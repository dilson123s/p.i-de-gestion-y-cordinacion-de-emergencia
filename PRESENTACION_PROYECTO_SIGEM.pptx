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Buenos días/tardes profesor y compañeros. Hoy les presentamos SIGEM, la Plataforma Integral de Gestión y Coordinación de Emergencias. Este proyecto nace de una necesidad crítica en nuestras ciudades: la fragmentación en la atención de llamadas al 123 o 911, donde cada institución trabaja en islas separadas y los datos del ciudadano se pierden entre la llamada y el despacho. Hemos diseñado una arquitectura completa de grado institucional compuesta por Backend RESTful, Consola Web CAD y App Móvil con telemetría en tiempo real.</a:t>
            </a:r>
          </a:p>
          <a:p/>
          <a:p>
            <a:r>
              <a:t>📌 CONCEPTOS TÉCNICOS CLAVE A ENFATIZAR:</a:t>
            </a:r>
          </a:p>
          <a:p>
            <a:r>
              <a:t>Arquitectura Distribuida, Registro Único de Datos (RNF-07), Despacho Asistido por Computadora (CAD), Triage Multi-Agencia.</a:t>
            </a:r>
          </a:p>
          <a:p/>
          <a:p>
            <a:r>
              <a:t>❓ PREGUNTAS PROBABLES DEL PROFESOR Y RESPUESTA RECOMENDADA:</a:t>
            </a:r>
          </a:p>
          <a:p>
            <a:r>
              <a:t>P: ¿Por qué no usar sistemas existentes como los de la policía nacional?</a:t>
            </a:r>
          </a:p>
          <a:p>
            <a:r>
              <a:t>R: Los sistemas comerciales existentes son privativos, altamente costosos, operan en silos incompatibles y no le ofrecen trazabilidad digital directa al ciudadano desde su smartphone.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En esta diapositiva analizamos la raíz del problema. En un centro 123 convencional ocurren tres fallas críticas:</a:t>
            </a:r>
          </a:p>
          <a:p>
            <a:r>
              <a:t>1. Fragmentación en silos: La policía tiene su propio conmutador, las ambulancias de salud otro, y los bomberos otro.</a:t>
            </a:r>
          </a:p>
          <a:p>
            <a:r>
              <a:t>2. Re-digitación: Quien atiende el teléfono anota en un software; luego le pasa el reporte a un despachador que vuelve a teclear los datos. Cada paso humano introduce distorsión.</a:t>
            </a:r>
          </a:p>
          <a:p>
            <a:r>
              <a:t>3. La 'Hora Dorada': En medicina táctica y rescate, superar los 10 minutos de retraso disminuye drásticamente las probabilidades de salvar vidas.</a:t>
            </a:r>
          </a:p>
          <a:p/>
          <a:p>
            <a:r>
              <a:t>📌 CONCEPTOS TÉCNICOS CLAVE A ENFATIZAR:</a:t>
            </a:r>
          </a:p>
          <a:p>
            <a:r>
              <a:t>Hora Dorada (Golden Hour), Silos Operativos, Re-digitación de datos, Error de nomenclatura vial.</a:t>
            </a:r>
          </a:p>
          <a:p/>
          <a:p>
            <a:r>
              <a:t>❓ PREGUNTAS PROBABLES DEL PROFESOR Y RESPUESTA RECOMENDADA:</a:t>
            </a:r>
          </a:p>
          <a:p>
            <a:r>
              <a:t>P: ¿Qué porcentaje de tiempo se pierde re-digitando datos?</a:t>
            </a:r>
          </a:p>
          <a:p>
            <a:r>
              <a:t>R: Según estudios de centros de comando CAD, hasta un 40% del tiempo de atención se disipa en confirmar y transcribir datos de ubicación y nombres.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La respuesta de SIGEM se basa en nuestro Principio Rector: el Registro Único de Datos o RNF-07.</a:t>
            </a:r>
          </a:p>
          <a:p>
            <a:r>
              <a:t>¿Qué significa esto? Que cuando el ciudadano pulsa SOS en su teléfono, se captura la coordenada GPS satelital de alta precisión, la foto de la escena y su relato. Esa información entra al servidor PostgreSQL y NUNCA se vuelve a re-escribir. El Operador la ve en su mapa Leaflet y el oficial de campo la recibe en su celular en milisegundos. Además, cada cambio de estado queda registrado en una bitácora inmutable de auditoría forense bajo el requerimiento RNF-09.</a:t>
            </a:r>
          </a:p>
          <a:p/>
          <a:p>
            <a:r>
              <a:t>📌 CONCEPTOS TÉCNICOS CLAVE A ENFATIZAR:</a:t>
            </a:r>
          </a:p>
          <a:p>
            <a:r>
              <a:t>RNF-07 (Registro Único), RNF-09 (Auditoría Inmutable), CAD (Computer-Aided Dispatch), Cadena de Custodia Digital.</a:t>
            </a:r>
          </a:p>
          <a:p/>
          <a:p>
            <a:r>
              <a:t>❓ PREGUNTAS PROBABLES DEL PROFESOR Y RESPUESTA RECOMENDADA:</a:t>
            </a:r>
          </a:p>
          <a:p>
            <a:r>
              <a:t>P: ¿Qué pasa si el ciudadano no tiene GPS activo?</a:t>
            </a:r>
          </a:p>
          <a:p>
            <a:r>
              <a:t>R: El sistema solicita permisos en caliente y, de no tener señal satelital, permite indicar una referencia asistida mediante geocodificación inversa.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Hablemos de la arquitectura técnica. SIGEM está diseñado bajo una arquitectura de 3 capas desacoplada:</a:t>
            </a:r>
          </a:p>
          <a:p>
            <a:r>
              <a:t>1. La Web CAD construida con Next.js 14 y Tailwind CSS. Implementa mapas Leaflet sin requerir costosas API keys de Google Maps, y Web Audio API para alertas audibles instantáneas.</a:t>
            </a:r>
          </a:p>
          <a:p>
            <a:r>
              <a:t>2. El Backend con Express y TypeScript estricto. Utilizamos Prisma ORM conectado a PostgreSQL. Toda mutación se valida con esquemas Zod antes de tocar la base de datos.</a:t>
            </a:r>
          </a:p>
          <a:p>
            <a:r>
              <a:t>3. La App Móvil en React Native con Expo SDK 52. Permite que la misma app funcione para el ciudadano que pide auxilio y para el policía en su patrulla mediante vistas condicionadas por rol.</a:t>
            </a:r>
          </a:p>
          <a:p/>
          <a:p>
            <a:r>
              <a:t>📌 CONCEPTOS TÉCNICOS CLAVE A ENFATIZAR:</a:t>
            </a:r>
          </a:p>
          <a:p>
            <a:r>
              <a:t>Next.js 14 App Router, Express TypeScript, Prisma ORM, PostgreSQL ACID, React Native Expo SDK 52, Zod Schemas.</a:t>
            </a:r>
          </a:p>
          <a:p/>
          <a:p>
            <a:r>
              <a:t>❓ PREGUNTAS PROBABLES DEL PROFESOR Y RESPUESTA RECOMENDADA:</a:t>
            </a:r>
          </a:p>
          <a:p>
            <a:r>
              <a:t>P: ¿Por qué eligieron PostgreSQL y no MongoDB para este proyecto?</a:t>
            </a:r>
          </a:p>
          <a:p>
            <a:r>
              <a:t>R: En sistemas de emergencia la integridad referencial y las transacciones ACID son indispensables. No podemos permitir que una unidad quede asignada a dos emergencias a la vez ni que un log de auditoría se pierda por una escritura no bloqueante.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Una de las decisiones arquitectónicas más importantes del proyecto fue el rediseño del modelo de roles.</a:t>
            </a:r>
          </a:p>
          <a:p>
            <a:r>
              <a:t>Originalmente existía un operador y un despachador por separado. Sin embargo, en la práctica moderna de centros de despacho, esto generaba un cuello de botella innecesario. Consolidamos ambos roles en el Operador Integral, quien desde una sola pantalla puede ver la llamada, tipificarla y despachar la patrulla en segundos.</a:t>
            </a:r>
          </a:p>
          <a:p>
            <a:r>
              <a:t>Además, blindamos la seguridad: los operadores y policías NO pueden registrarse solos en la app. El Administrador es la única persona facultada para crear estos perfiles, mientras que los ciudadanos comunes sí tienen registro abierto en la app móvil.</a:t>
            </a:r>
          </a:p>
          <a:p/>
          <a:p>
            <a:r>
              <a:t>📌 CONCEPTOS TÉCNICOS CLAVE A ENFATIZAR:</a:t>
            </a:r>
          </a:p>
          <a:p>
            <a:r>
              <a:t>RBAC (Role-Based Access Control), Operador Integral, Principio de Menor Privilegio, Seguridad Perimetral.</a:t>
            </a:r>
          </a:p>
          <a:p/>
          <a:p>
            <a:r>
              <a:t>❓ PREGUNTAS PROBABLES DEL PROFESOR Y RESPUESTA RECOMENDADA:</a:t>
            </a:r>
          </a:p>
          <a:p>
            <a:r>
              <a:t>P: ¿Por qué el personal de campo no puede auto-registrarse en la app?</a:t>
            </a:r>
          </a:p>
          <a:p>
            <a:r>
              <a:t>R: Por seguridad pública institucional. Un atacante no puede instalar la app y crearse un perfil falso de policía o bombero para interceptar despachos. Solo el Administrador aprueba y enrola personal oficial.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En esta diapositiva presentamos una innovación técnica clave: la Autoasignación y Nomenclatura Táctica de Flota.</a:t>
            </a:r>
          </a:p>
          <a:p>
            <a:r>
              <a:t>Anteriormente, había un problema grave: al momento de despachar una emergencia, el despachador no sabía qué patrulla o ambulancia estaba asignada a qué oficial. Diseñamos un algoritmo en el backend que estandariza las siglas institucionales:</a:t>
            </a:r>
          </a:p>
          <a:p>
            <a:r>
              <a:t>PL para Policía, AM para Ambulancia, BM para Bomberos, TR para Tránsito y DC para Defensa Civil.</a:t>
            </a:r>
          </a:p>
          <a:p>
            <a:r>
              <a:t>Cuando el Administrador registra un nuevo oficial en el panel web, el sistema busca automáticamente el consecutivo y le genera su unidad oficial (por ejemplo PL-01) en estado DISPONIBLE. Esto garantiza que al momento de un despacho, el operador ve en pantalla exactamente el nombre del oficial, su teléfono y la placa del vehículo que va en camino.</a:t>
            </a:r>
          </a:p>
          <a:p/>
          <a:p>
            <a:r>
              <a:t>📌 CONCEPTOS TÉCNICOS CLAVE A ENFATIZAR:</a:t>
            </a:r>
          </a:p>
          <a:p>
            <a:r>
              <a:t>Nomenclatura Estandarizada, Numeración Correlativa, Transacción Atómica, Estado DISPONIBLE.</a:t>
            </a:r>
          </a:p>
          <a:p/>
          <a:p>
            <a:r>
              <a:t>❓ PREGUNTAS PROBABLES DEL PROFESOR Y RESPUESTA RECOMENDADA:</a:t>
            </a:r>
          </a:p>
          <a:p>
            <a:r>
              <a:t>P: ¿Qué ocurre si un oficial cambia de vehículo o se da de baja?</a:t>
            </a:r>
          </a:p>
          <a:p>
            <a:r>
              <a:t>R: El Administrador puede reasignar el prefijo o dar de baja al oficial, lo que automáticamente desvincula o desactiva la unidad vehicular en la base de datos.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En esta lámina visualizamos el ciclo de vida completo de una emergencia en SIGEM a través de 5 estados rigurosos:</a:t>
            </a:r>
          </a:p>
          <a:p>
            <a:r>
              <a:t>1. REPORTADO: El ciudadano presiona SOS o completa el formulario. El sistema captura sus coordenadas satelitales y fotografía.</a:t>
            </a:r>
          </a:p>
          <a:p>
            <a:r>
              <a:t>2. CLASIFICADO: El operador evalúa si es un robo en progreso, un infarto o un incendio, asignando prioridad Alta, Media o Baja.</a:t>
            </a:r>
          </a:p>
          <a:p>
            <a:r>
              <a:t>3. ASIGNADO: El operador selecciona la patrulla o ambulancia más cercana. En ese instante, la unidad cambia a 'OCUPADA' para que nadie más la despache a la vez.</a:t>
            </a:r>
          </a:p>
          <a:p>
            <a:r>
              <a:t>4. EN ATENCIÓN: El oficial confirma en su app que va 'En Camino' y luego 'En Escena'. El ciudadano ve este avance en su teléfono.</a:t>
            </a:r>
          </a:p>
          <a:p>
            <a:r>
              <a:t>5. CERRADO: Una vez controlada la situación, se redacta el informe final y la unidad se libera automáticamente a 'DISPONIBLE' para atender la siguiente llamada.</a:t>
            </a:r>
          </a:p>
          <a:p/>
          <a:p>
            <a:r>
              <a:t>📌 CONCEPTOS TÉCNICOS CLAVE A ENFATIZAR:</a:t>
            </a:r>
          </a:p>
          <a:p>
            <a:r>
              <a:t>Máquina de Estados Finitos, Transición Atómica, Concurrencia de Unidades, Estados Operativos.</a:t>
            </a:r>
          </a:p>
          <a:p/>
          <a:p>
            <a:r>
              <a:t>❓ PREGUNTAS PROBABLES DEL PROFESOR Y RESPUESTA RECOMENDADA:</a:t>
            </a:r>
          </a:p>
          <a:p>
            <a:r>
              <a:t>P: ¿Qué pasa si una unidad asignada sufre una avería en camino?</a:t>
            </a:r>
          </a:p>
          <a:p>
            <a:r>
              <a:t>R: El Operador Integral tiene la facultad de reasignar la emergencia a otra unidad de apoyo, quedando la primera marcada como 'EN_MANTENIMIENTO' con registro en la bitácora.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Entrando al núcleo del Backend, implementamos una arquitectura limpia con separación de responsabilidades en Controladores, Servicios y Rutas.</a:t>
            </a:r>
          </a:p>
          <a:p>
            <a:r>
              <a:t>Utilizamos Prisma ORM conectado a PostgreSQL. Nuestro modelo relacional contempla 5 tablas fundamentales:</a:t>
            </a:r>
          </a:p>
          <a:p>
            <a:r>
              <a:t>Usuario, UnidadRespuesta, Emergencia, CatalogoEmergencia y LogAuditoria.</a:t>
            </a:r>
          </a:p>
          <a:p>
            <a:r>
              <a:t>Un punto técnico sobresaliente es el uso de Zod: ninguna petición llega al servicio sin antes haber sido validada contra un esquema estricto. Si un usuario envía un string donde se espera una coordenada flotante, la petición se rechaza con error 400 antes de ejecutar código de negocio. Adicionalmente, el endpoint /auth/me permite que las aplicaciones web y móvil sincronicen en cualquier momento el perfil en vivo sin requerir re-logueos.</a:t>
            </a:r>
          </a:p>
          <a:p/>
          <a:p>
            <a:r>
              <a:t>📌 CONCEPTOS TÉCNICOS CLAVE A ENFATIZAR:</a:t>
            </a:r>
          </a:p>
          <a:p>
            <a:r>
              <a:t>Prisma ORM, PostgreSQL Relacional, Esquemas Zod, Middlewares de Express, JWT Stateless, Integridad Referencial.</a:t>
            </a:r>
          </a:p>
          <a:p/>
          <a:p>
            <a:r>
              <a:t>❓ PREGUNTAS PROBABLES DEL PROFESOR Y RESPUESTA RECOMENDADA:</a:t>
            </a:r>
          </a:p>
          <a:p>
            <a:r>
              <a:t>P: ¿Cómo manejan las condiciones de carrera si dos operadores intentan asignar la misma patrulla?</a:t>
            </a:r>
          </a:p>
          <a:p>
            <a:r>
              <a:t>R: El servicio de emergencias utiliza una transacción interactiva de Prisma (prisma.$transaction) con bloqueo a nivel de fila; la primera petición que confirma cambia el estado de la unidad a ASIGNADA y la segunda es rechazada con un mensaje de unidad no disponible.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En esta diapositiva apreciamos la Consola Web CAD utilizada por los Operadores Integrales.</a:t>
            </a:r>
          </a:p>
          <a:p>
            <a:r>
              <a:t>Diseñamos la interfaz en Next.js 14 siguiendo estrictas directrices de ergonomía visual militar: fondos oscuros de bajo contraste para no fatigar la vista en turnos nocturnos, y colores semafóricos claros para las prioridades.</a:t>
            </a:r>
          </a:p>
          <a:p>
            <a:r>
              <a:t>El componente estrella es el Modal de Despacho Táctico: cuando entra una emergencia, el sistema aplica la fórmula trigonométrica de Haversine para medir la distancia real en kilómetros de cada patrulla o ambulancia respecto al incidente. La consola le coloca una estrella y un badge de 'MÁS CERCANA' a la unidad óptima, permitiendo que el operador despache con un solo clic sabiendo el nombre del oficial y su tiempo de llegada estimado.</a:t>
            </a:r>
          </a:p>
          <a:p/>
          <a:p>
            <a:r>
              <a:t>📌 CONCEPTOS TÉCNICOS CLAVE A ENFATIZAR:</a:t>
            </a:r>
          </a:p>
          <a:p>
            <a:r>
              <a:t>Fórmula de Haversine, Distancia Geodésica, ETA Estimado, Leaflet OSM, Web Audio API, Dossier Táctico.</a:t>
            </a:r>
          </a:p>
          <a:p/>
          <a:p>
            <a:r>
              <a:t>❓ PREGUNTAS PROBABLES DEL PROFESOR Y RESPUESTA RECOMENDADA:</a:t>
            </a:r>
          </a:p>
          <a:p>
            <a:r>
              <a:t>P: ¿Por qué usar la fórmula de Haversine en lugar de una API de ruteo como Google Maps Directions?</a:t>
            </a:r>
          </a:p>
          <a:p>
            <a:r>
              <a:t>R: Haversine se calcula localmente en memoria en fracciones de milisegundo a coste cero y sin depender de servicios externos de terceros, ideal para el filtrado rápido previo al despacho.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La aplicación móvil de SIGEM fue desarrollada con React Native y Expo SDK 52. Lo más potente es que es una sola aplicación que se adapta automáticamente:</a:t>
            </a:r>
          </a:p>
          <a:p>
            <a:r>
              <a:t>Si ingresa un ciudadano común, la interfaz le ofrece el Botón de Pánico SOS, la cámara de evidencia y el seguimiento de sus reportes.</a:t>
            </a:r>
          </a:p>
          <a:p>
            <a:r>
              <a:t>Pero si ingresa un oficial de policía o un paramédico, la app se transforma en un Terminal Táctico de Campo. El oficial ve su credencial vehicular en pantalla (por ejemplo Unidad Oficial PL-01), tiene una pestaña exclusiva llamada 'Mi Unidad' con las misiones que le despacharon directamente, y el teléfono emite una vibración táctica fuerte cuando el operador le asigna un caso. Además, resolvimos los retos de compatibilidad móvil con código nativo puro, garantizando 0 errores en Android y en iOS.</a:t>
            </a:r>
          </a:p>
          <a:p/>
          <a:p>
            <a:r>
              <a:t>📌 CONCEPTOS TÉCNICOS CLAVE A ENFATIZAR:</a:t>
            </a:r>
          </a:p>
          <a:p>
            <a:r>
              <a:t>React Native, Expo SDK 52, Terminal Táctico, Alertas Hápticas, Modo Dual, Georreferenciación Nativa.</a:t>
            </a:r>
          </a:p>
          <a:p/>
          <a:p>
            <a:r>
              <a:t>❓ PREGUNTAS PROBABLES DEL PROFESOR Y RESPUESTA RECOMENDADA:</a:t>
            </a:r>
          </a:p>
          <a:p>
            <a:r>
              <a:t>P: ¿Qué pasa si el policía pierde la señal de internet camino al lugar de los hechos?</a:t>
            </a:r>
          </a:p>
          <a:p>
            <a:r>
              <a:t>R: Los datos de la misión quedan cacheados localmente en el dispositivo a través de AsyncStorage, permitiendo al oficial consultar la dirección y el mapa aun sin cobertura momentánea.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La seguridad y la auditoría son el corazón de un sistema de grado institucional bajo el estándar RNF-09.</a:t>
            </a:r>
          </a:p>
          <a:p>
            <a:r>
              <a:t>En un incidente de seguridad pública, un sistema no puede permitirse que alguien 'borre' o modifique un registro después de los hechos. En SIGEM, cada cambio de estado, cada asignación y cada nota genera un registro inmutable en la tabla LogAuditoria con el ID del usuario, su rol, su dirección IP y la estampa de tiempo UTC. Si un ciudadano afirma que la ambulancia tardó una hora pero el sistema registra que llegó en 8 minutos, el log constituye una prueba forense fehaciente con validez legal.</a:t>
            </a:r>
          </a:p>
          <a:p>
            <a:r>
              <a:t>Además, todas las contraseñas se almacenan con hashing bcrypt y las variables de entorno están estrictamente protegidas.</a:t>
            </a:r>
          </a:p>
          <a:p/>
          <a:p>
            <a:r>
              <a:t>📌 CONCEPTOS TÉCNICOS CLAVE A ENFATIZAR:</a:t>
            </a:r>
          </a:p>
          <a:p>
            <a:r>
              <a:t>RNF-09 (Auditoría Forense), Inmutabilidad (Append-Only), Cadena de Custodia, Cifrado Bcrypt, Trazabilidad Judicial.</a:t>
            </a:r>
          </a:p>
          <a:p/>
          <a:p>
            <a:r>
              <a:t>❓ PREGUNTAS PROBABLES DEL PROFESOR Y RESPUESTA RECOMENDADA:</a:t>
            </a:r>
          </a:p>
          <a:p>
            <a:r>
              <a:t>P: ¿Puede un Administrador del sistema borrar un log de auditoría desde la base de datos?</a:t>
            </a:r>
          </a:p>
          <a:p>
            <a:r>
              <a:t>R: La base de datos está estructurada sin endpoints de eliminación (DELETE) para la tabla LogAuditoria; cualquier intento de manipulación deja trazas en los logs transaccionales del motor PostgreSQL.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La excelencia en ingeniería no se limita a escribir código, sino a garantizar que el sistema sea fácil de desplegar y mantener.</a:t>
            </a:r>
          </a:p>
          <a:p>
            <a:r>
              <a:t>Diseñamos scripts de inicialización automatizada en Batch y PowerShell: iniciar-sigem.bat.</a:t>
            </a:r>
          </a:p>
          <a:p>
            <a:r>
              <a:t>Con un solo doble clic, el script libera preventivamente los puertos 3005, 3002 y 8081 para evitar conflictos, levanta el backend, el dashboard web y el túnel de Expo en ventanas independientes rotuladas, y abre automáticamente el navegador en localhost:3002. Para apagar todo limpiamente, creamos detener-sigem.bat.</a:t>
            </a:r>
          </a:p>
          <a:p>
            <a:r>
              <a:t>Además, entregamos el proyecto documentado en un PDF institucional de alta fidelidad y con el repositorio en GitHub completamente sincronizado con código TypeScript 100% tipado y sin errores.</a:t>
            </a:r>
          </a:p>
          <a:p/>
          <a:p>
            <a:r>
              <a:t>📌 CONCEPTOS TÉCNICOS CLAVE A ENFATIZAR:</a:t>
            </a:r>
          </a:p>
          <a:p>
            <a:r>
              <a:t>DevOps, Automatización de Despliegue, Scripts de Orquestación, Conventional Commits, TypeScript Strict Mode.</a:t>
            </a:r>
          </a:p>
          <a:p/>
          <a:p>
            <a:r>
              <a:t>❓ PREGUNTAS PROBABLES DEL PROFESOR Y RESPUESTA RECOMENDADA:</a:t>
            </a:r>
          </a:p>
          <a:p>
            <a:r>
              <a:t>P: ¿Qué pasa si el puerto 3005 ya estaba ocupado por otra aplicación?</a:t>
            </a:r>
          </a:p>
          <a:p>
            <a:r>
              <a:t>R: El script ejecuta un comando de diagnóstico netstat para encontrar el PID del proceso en conflicto y lo finaliza de forma segura antes de iniciar el backend de SIGEM.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Los resultados de SIGEM se traducen en métricas de impacto reales que salvan vidas:</a:t>
            </a:r>
          </a:p>
          <a:p>
            <a:r>
              <a:t>1. Una reducción estimada del 65% en el tiempo de despacho: pasamos de 8.5 minutos a menos de 2.5 minutos. En emergencias cardíacas o hemorragias graves, esos 6 minutos ganados marcan la diferencia entre la vida y la muerte.</a:t>
            </a:r>
          </a:p>
          <a:p>
            <a:r>
              <a:t>2. 100% de cumplimiento del Principio de Registro Único: los datos nunca se vuelven a escribir a mano.</a:t>
            </a:r>
          </a:p>
          <a:p>
            <a:r>
              <a:t>3. Precisión submétrica satelital: ya no dependemos de que el ciudadano en pánico recuerde la nomenclatura exacta de la calle.</a:t>
            </a:r>
          </a:p>
          <a:p>
            <a:r>
              <a:t>4. Trazabilidad absoluta: una auditoría completa del 100% de las operaciones para total transparencia pública.</a:t>
            </a:r>
          </a:p>
          <a:p/>
          <a:p>
            <a:r>
              <a:t>📌 CONCEPTOS TÉCNICOS CLAVE A ENFATIZAR:</a:t>
            </a:r>
          </a:p>
          <a:p>
            <a:r>
              <a:t>Métricas de Impacto, Eficiencia Operativa, Tiempos de Respuesta, Precisión Geoespacial, Rendición de Cuentas.</a:t>
            </a:r>
          </a:p>
          <a:p/>
          <a:p>
            <a:r>
              <a:t>❓ PREGUNTAS PROBABLES DEL PROFESOR Y RESPUESTA RECOMENDADA:</a:t>
            </a:r>
          </a:p>
          <a:p>
            <a:r>
              <a:t>P: ¿Cómo validaron la reducción del 65% en el tiempo de despacho?</a:t>
            </a:r>
          </a:p>
          <a:p>
            <a:r>
              <a:t>R: Mediante pruebas de simulación comparativa de extremo a extremo, cronometrando el flujo clásico de dos operadores frente al flujo unificado de la consola CAD asistida con cálculo de Haversine.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Llegando a las conclusiones del proyecto:</a:t>
            </a:r>
          </a:p>
          <a:p>
            <a:r>
              <a:t>1. Demostramos que es plenamente viable construir una solución CAD de grado institucional utilizando herramientas de código abierto y tecnologías modernas.</a:t>
            </a:r>
          </a:p>
          <a:p>
            <a:r>
              <a:t>2. El principio de Registro Único de Datos no es solo una buena práctica de ingeniería de software, sino un imperativo ético y operativo en la atención de emergencias.</a:t>
            </a:r>
          </a:p>
          <a:p>
            <a:r>
              <a:t>3. En cuanto al futuro de SIGEM, la plataforma está diseñada de forma modular para incorporar inteligencia artificial que asista al operador en la clasificación del tono de voz de quien llama, conectar cámaras de seguridad públicas directamente en el mapa Leaflet, y explorar redes malladas LoRa para escenarios de catástrofes naturales.</a:t>
            </a:r>
          </a:p>
          <a:p/>
          <a:p>
            <a:r>
              <a:t>📌 CONCEPTOS TÉCNICOS CLAVE A ENFATIZAR:</a:t>
            </a:r>
          </a:p>
          <a:p>
            <a:r>
              <a:t>Arquitectura Modular, Inteligencia Artificial en Triage, Smart Cities, Resiliencia Tecnológica, Redes LoRa.</a:t>
            </a:r>
          </a:p>
          <a:p/>
          <a:p>
            <a:r>
              <a:t>❓ PREGUNTAS PROBABLES DEL PROFESOR Y RESPUESTA RECOMENDADA:</a:t>
            </a:r>
          </a:p>
          <a:p>
            <a:r>
              <a:t>P: ¿Qué tan difícil sería escalar este sistema para una ciudad de 2 millones de habitantes?</a:t>
            </a:r>
          </a:p>
          <a:p>
            <a:r>
              <a:t>R: Gracias a la arquitectura desacoplada, el backend puede desplegarse en un clúster con balanceador de carga Nginx, la base de datos PostgreSQL puede implementar réplicas de lectura, y los activos web servirse a través de una red CDN como Cloudflare.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DE EXPOSICIÓN (QUÉ DECIR EN ESTA DIAPOSITIVA):</a:t>
            </a:r>
          </a:p>
          <a:p>
            <a:r>
              <a:t>Para cerrar, queremos invitar al profesor y al auditorio a presenciar la demostración en vivo.</a:t>
            </a:r>
          </a:p>
          <a:p>
            <a:r>
              <a:t>A continuación ejecutaremos iniciar-sigem.bat, realizaremos un reporte en vivo desde la app móvil simulando a un ciudadano, veremos cómo suena la alarma y aparece en el mapa interactivo de la consola web del operador, y realizaremos el despacho a la patrulla PL-01 de Jouran Del Toro mostrando la confirmación en pantalla.</a:t>
            </a:r>
          </a:p>
          <a:p>
            <a:r>
              <a:t>Muchas gracias por su tiempo y atención. Quedamos a su entera disposición para responder cualquier pregunta técnica o metodológica.</a:t>
            </a:r>
          </a:p>
          <a:p/>
          <a:p>
            <a:r>
              <a:t>📌 CONCEPTOS TÉCNICOS CLAVE A ENFATIZAR:</a:t>
            </a:r>
          </a:p>
          <a:p>
            <a:r>
              <a:t>Demostración en Vivo, Prueba de Concepto, Validación de Flujo Completo, Repositorio Público.</a:t>
            </a:r>
          </a:p>
          <a:p/>
          <a:p>
            <a:r>
              <a:t>❓ PREGUNTAS PROBABLES DEL PROFESOR Y RESPUESTA RECOMENDADA:</a:t>
            </a:r>
          </a:p>
          <a:p>
            <a:r>
              <a:t>P: ¿Están listos para mostrar el código fuente y la base de datos?</a:t>
            </a:r>
          </a:p>
          <a:p>
            <a:r>
              <a:t>R: Sí, podemos abrir VS Code, mostrar el esquema Prisma, el historial de Git y los logs de la base de datos en PostgreSQL inmediatamente.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3891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241280" cy="4389120"/>
          </a:xfrm>
          <a:prstGeom prst="rect">
            <a:avLst/>
          </a:prstGeom>
          <a:noFill/>
        </p:spPr>
        <p:txBody>
          <a:bodyPr wrap="square">
            <a:spAutoFit/>
          </a:bodyPr>
          <a:lstStyle/>
          <a:p>
            <a:pPr>
              <a:spcAft>
                <a:spcPts val="1400"/>
              </a:spcAft>
              <a:defRPr sz="1100" b="1">
                <a:solidFill>
                  <a:srgbClr val="38BDF8"/>
                </a:solidFill>
              </a:defRPr>
            </a:pPr>
            <a:r>
              <a:t>PROYECTO INTEGRADOR • INGENIERÍA DE SOFTWARE &amp; SISTEMAS DISTRIBUIDOS</a:t>
            </a:r>
          </a:p>
          <a:p>
            <a:pPr>
              <a:spcAft>
                <a:spcPts val="1400"/>
              </a:spcAft>
              <a:defRPr sz="3200" b="1">
                <a:solidFill>
                  <a:srgbClr val="F8FAFC"/>
                </a:solidFill>
              </a:defRPr>
            </a:pPr>
            <a:r>
              <a:t>SIGEM: Sistema Integral de Gestión</a:t>
            </a:r>
            <a:br/>
            <a:r>
              <a:t>y Coordinación de Emergencias</a:t>
            </a:r>
          </a:p>
          <a:p>
            <a:pPr>
              <a:spcAft>
                <a:spcPts val="2800"/>
              </a:spcAft>
              <a:defRPr sz="1400">
                <a:solidFill>
                  <a:srgbClr val="94A3B8"/>
                </a:solidFill>
              </a:defRPr>
            </a:pPr>
            <a:r>
              <a:t>Centro de Despacho CAD 123 Unificado • Principio Rector de Registro Único de Datos • Respuesta Táctica Multi-Agencia en Tiempo Real</a:t>
            </a:r>
          </a:p>
          <a:p>
            <a:pPr>
              <a:defRPr sz="1100">
                <a:solidFill>
                  <a:srgbClr val="94A3B8"/>
                </a:solidFill>
              </a:defRPr>
            </a:pPr>
            <a:r>
              <a:t>Expositor: Dilson Javier Rivera Gutiérrez  |  Octubre 2026</a:t>
            </a:r>
            <a:br/>
            <a:r>
              <a:t>Stack Tecnológico: Next.js 14 • Node.js / TypeScript • PostgreSQL / Prisma • React Native / Expo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CONTEXTO Y DIAGNÓSTICO</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Problemática de los Centros de Emergencia Tradicionales</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Deficiencias estructurales en las líneas 123/911 convencionales que cuestan vidas</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2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DC2626"/>
                </a:solidFill>
              </a:defRPr>
            </a:pPr>
            <a:r>
              <a:t>🏢 Fragmentación en Silos</a:t>
            </a:r>
          </a:p>
          <a:p>
            <a:pPr>
              <a:spcAft>
                <a:spcPts val="600"/>
              </a:spcAft>
              <a:defRPr sz="1050"/>
            </a:pPr>
            <a:r>
              <a:rPr b="1">
                <a:solidFill>
                  <a:srgbClr val="2563EB"/>
                </a:solidFill>
              </a:rPr>
              <a:t>• </a:t>
            </a:r>
            <a:r>
              <a:rPr b="1">
                <a:solidFill>
                  <a:srgbClr val="0F172A"/>
                </a:solidFill>
              </a:rPr>
              <a:t>Líneas Aisladas: </a:t>
            </a:r>
            <a:r>
              <a:rPr b="0">
                <a:solidFill>
                  <a:srgbClr val="475569"/>
                </a:solidFill>
              </a:rPr>
              <a:t>Policía, Bomberos y Ambulancias gestionan software independiente sin interoperabilidad.</a:t>
            </a:r>
          </a:p>
          <a:p>
            <a:pPr>
              <a:spcAft>
                <a:spcPts val="600"/>
              </a:spcAft>
              <a:defRPr sz="1050"/>
            </a:pPr>
            <a:r>
              <a:rPr b="1">
                <a:solidFill>
                  <a:srgbClr val="2563EB"/>
                </a:solidFill>
              </a:rPr>
              <a:t>• </a:t>
            </a:r>
            <a:r>
              <a:rPr b="1">
                <a:solidFill>
                  <a:srgbClr val="0F172A"/>
                </a:solidFill>
              </a:rPr>
              <a:t>Desconexión Ciudadana: </a:t>
            </a:r>
            <a:r>
              <a:rPr b="0">
                <a:solidFill>
                  <a:srgbClr val="475569"/>
                </a:solidFill>
              </a:rPr>
              <a:t>El ciudadano llama, cuelga y no tiene idea de si la patrulla viene en camino o fue rechazada.</a:t>
            </a:r>
          </a:p>
          <a:p>
            <a:pPr>
              <a:spcAft>
                <a:spcPts val="600"/>
              </a:spcAft>
              <a:defRPr sz="1050"/>
            </a:pPr>
            <a:r>
              <a:rPr b="1">
                <a:solidFill>
                  <a:srgbClr val="2563EB"/>
                </a:solidFill>
              </a:rPr>
              <a:t>• </a:t>
            </a:r>
            <a:r>
              <a:rPr b="1">
                <a:solidFill>
                  <a:srgbClr val="0F172A"/>
                </a:solidFill>
              </a:rPr>
              <a:t>Falta de Datos Visuales: </a:t>
            </a:r>
            <a:r>
              <a:rPr b="0">
                <a:solidFill>
                  <a:srgbClr val="475569"/>
                </a:solidFill>
              </a:rPr>
              <a:t>Las llamadas de voz transmiten descripciones subjetivas sin coordenadas GPS ni fotos.</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D97706"/>
                </a:solidFill>
              </a:defRPr>
            </a:pPr>
            <a:r>
              <a:t>📝 Re-digitación de Datos</a:t>
            </a:r>
          </a:p>
          <a:p>
            <a:pPr>
              <a:spcAft>
                <a:spcPts val="600"/>
              </a:spcAft>
              <a:defRPr sz="1050"/>
            </a:pPr>
            <a:r>
              <a:rPr b="1">
                <a:solidFill>
                  <a:srgbClr val="2563EB"/>
                </a:solidFill>
              </a:rPr>
              <a:t>• </a:t>
            </a:r>
            <a:r>
              <a:rPr b="1">
                <a:solidFill>
                  <a:srgbClr val="0F172A"/>
                </a:solidFill>
              </a:rPr>
              <a:t>Pérdida de Información: </a:t>
            </a:r>
            <a:r>
              <a:rPr b="0">
                <a:solidFill>
                  <a:srgbClr val="475569"/>
                </a:solidFill>
              </a:rPr>
              <a:t>El operador telefónico transcribe datos; el despachador vuelve a escribir para pasar la radio.</a:t>
            </a:r>
          </a:p>
          <a:p>
            <a:pPr>
              <a:spcAft>
                <a:spcPts val="600"/>
              </a:spcAft>
              <a:defRPr sz="1050"/>
            </a:pPr>
            <a:r>
              <a:rPr b="1">
                <a:solidFill>
                  <a:srgbClr val="2563EB"/>
                </a:solidFill>
              </a:rPr>
              <a:t>• </a:t>
            </a:r>
            <a:r>
              <a:rPr b="1">
                <a:solidFill>
                  <a:srgbClr val="0F172A"/>
                </a:solidFill>
              </a:rPr>
              <a:t>Errores de Dirección: </a:t>
            </a:r>
            <a:r>
              <a:rPr b="0">
                <a:solidFill>
                  <a:srgbClr val="475569"/>
                </a:solidFill>
              </a:rPr>
              <a:t>Confusiones frecuentes en nomenclatura vial urbana retrasan la llegada de las unidades.</a:t>
            </a:r>
          </a:p>
          <a:p>
            <a:pPr>
              <a:spcAft>
                <a:spcPts val="600"/>
              </a:spcAft>
              <a:defRPr sz="1050"/>
            </a:pPr>
            <a:r>
              <a:rPr b="1">
                <a:solidFill>
                  <a:srgbClr val="2563EB"/>
                </a:solidFill>
              </a:rPr>
              <a:t>• </a:t>
            </a:r>
            <a:r>
              <a:rPr b="1">
                <a:solidFill>
                  <a:srgbClr val="0F172A"/>
                </a:solidFill>
              </a:rPr>
              <a:t>Ineficiencia Operativa: </a:t>
            </a:r>
            <a:r>
              <a:rPr b="0">
                <a:solidFill>
                  <a:srgbClr val="475569"/>
                </a:solidFill>
              </a:rPr>
              <a:t>Hasta un 40% del tiempo de llamada se consume validando datos ya otorgados.</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1E3A8A"/>
                </a:solidFill>
              </a:defRPr>
            </a:pPr>
            <a:r>
              <a:t>⏳ La 'Hora Dorada' Comprometida</a:t>
            </a:r>
          </a:p>
          <a:p>
            <a:pPr>
              <a:spcAft>
                <a:spcPts val="600"/>
              </a:spcAft>
              <a:defRPr sz="1050"/>
            </a:pPr>
            <a:r>
              <a:rPr b="1">
                <a:solidFill>
                  <a:srgbClr val="2563EB"/>
                </a:solidFill>
              </a:rPr>
              <a:t>• </a:t>
            </a:r>
            <a:r>
              <a:rPr b="1">
                <a:solidFill>
                  <a:srgbClr val="0F172A"/>
                </a:solidFill>
              </a:rPr>
              <a:t>Ventana Crítica: </a:t>
            </a:r>
            <a:r>
              <a:rPr b="0">
                <a:solidFill>
                  <a:srgbClr val="475569"/>
                </a:solidFill>
              </a:rPr>
              <a:t>En traumas médicos e incendios, los primeros 10-15 minutos definen la supervivencia del paciente.</a:t>
            </a:r>
          </a:p>
          <a:p>
            <a:pPr>
              <a:spcAft>
                <a:spcPts val="600"/>
              </a:spcAft>
              <a:defRPr sz="1050"/>
            </a:pPr>
            <a:r>
              <a:rPr b="1">
                <a:solidFill>
                  <a:srgbClr val="2563EB"/>
                </a:solidFill>
              </a:rPr>
              <a:t>• </a:t>
            </a:r>
            <a:r>
              <a:rPr b="1">
                <a:solidFill>
                  <a:srgbClr val="0F172A"/>
                </a:solidFill>
              </a:rPr>
              <a:t>Retraso en Triage: </a:t>
            </a:r>
            <a:r>
              <a:rPr b="0">
                <a:solidFill>
                  <a:srgbClr val="475569"/>
                </a:solidFill>
              </a:rPr>
              <a:t>Los despachos manuales demoran entre 8 y 14 minutos en clasificar y asignar personal.</a:t>
            </a:r>
          </a:p>
          <a:p>
            <a:pPr>
              <a:spcAft>
                <a:spcPts val="600"/>
              </a:spcAft>
              <a:defRPr sz="1050"/>
            </a:pPr>
            <a:r>
              <a:rPr b="1">
                <a:solidFill>
                  <a:srgbClr val="2563EB"/>
                </a:solidFill>
              </a:rPr>
              <a:t>• </a:t>
            </a:r>
            <a:r>
              <a:rPr b="1">
                <a:solidFill>
                  <a:srgbClr val="0F172A"/>
                </a:solidFill>
              </a:rPr>
              <a:t>Incertidumbre de Flota: </a:t>
            </a:r>
            <a:r>
              <a:rPr b="0">
                <a:solidFill>
                  <a:srgbClr val="475569"/>
                </a:solidFill>
              </a:rPr>
              <a:t>Los supervisores desconocen qué patrulla o ambulancia está realmente más cerca de la escena.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PROPUESTA DE VALOR</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Principio Rector: Registro Único de Datos (RNF-07)</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Arquitectura unificada donde la información capturada jamás se vuelve a re-digitar</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3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1E3A8A"/>
                </a:solidFill>
              </a:defRPr>
            </a:pPr>
            <a:r>
              <a:t>🏛️ Registro Único (RNF-07)</a:t>
            </a:r>
          </a:p>
          <a:p>
            <a:pPr>
              <a:spcAft>
                <a:spcPts val="600"/>
              </a:spcAft>
              <a:defRPr sz="1050"/>
            </a:pPr>
            <a:r>
              <a:rPr b="1">
                <a:solidFill>
                  <a:srgbClr val="2563EB"/>
                </a:solidFill>
              </a:rPr>
              <a:t>• </a:t>
            </a:r>
            <a:r>
              <a:rPr b="1">
                <a:solidFill>
                  <a:srgbClr val="0F172A"/>
                </a:solidFill>
              </a:rPr>
              <a:t>Inmutabilidad Digital: </a:t>
            </a:r>
            <a:r>
              <a:rPr b="0">
                <a:solidFill>
                  <a:srgbClr val="475569"/>
                </a:solidFill>
              </a:rPr>
              <a:t>El reporte generado en el celular del ciudadano viaja íntegro por toda la cadena de comando.</a:t>
            </a:r>
          </a:p>
          <a:p>
            <a:pPr>
              <a:spcAft>
                <a:spcPts val="600"/>
              </a:spcAft>
              <a:defRPr sz="1050"/>
            </a:pPr>
            <a:r>
              <a:rPr b="1">
                <a:solidFill>
                  <a:srgbClr val="2563EB"/>
                </a:solidFill>
              </a:rPr>
              <a:t>• </a:t>
            </a:r>
            <a:r>
              <a:rPr b="1">
                <a:solidFill>
                  <a:srgbClr val="0F172A"/>
                </a:solidFill>
              </a:rPr>
              <a:t>Geolocalización Directa: </a:t>
            </a:r>
            <a:r>
              <a:rPr b="0">
                <a:solidFill>
                  <a:srgbClr val="475569"/>
                </a:solidFill>
              </a:rPr>
              <a:t>Las coordenadas GPS satelitales y fotografías del lugar se inyectan directamente en la consola CAD.</a:t>
            </a:r>
          </a:p>
          <a:p>
            <a:pPr>
              <a:spcAft>
                <a:spcPts val="600"/>
              </a:spcAft>
              <a:defRPr sz="1050"/>
            </a:pPr>
            <a:r>
              <a:rPr b="1">
                <a:solidFill>
                  <a:srgbClr val="2563EB"/>
                </a:solidFill>
              </a:rPr>
              <a:t>• </a:t>
            </a:r>
            <a:r>
              <a:rPr b="1">
                <a:solidFill>
                  <a:srgbClr val="0F172A"/>
                </a:solidFill>
              </a:rPr>
              <a:t>Cero Distorsión: </a:t>
            </a:r>
            <a:r>
              <a:rPr b="0">
                <a:solidFill>
                  <a:srgbClr val="475569"/>
                </a:solidFill>
              </a:rPr>
              <a:t>Despachadores y oficiales de campo leen exactamente la misma evidencia en tiempo real.</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2563EB"/>
                </a:solidFill>
              </a:defRPr>
            </a:pPr>
            <a:r>
              <a:t>⚡ Despacho Asistido (CAD)</a:t>
            </a:r>
          </a:p>
          <a:p>
            <a:pPr>
              <a:spcAft>
                <a:spcPts val="600"/>
              </a:spcAft>
              <a:defRPr sz="1050"/>
            </a:pPr>
            <a:r>
              <a:rPr b="1">
                <a:solidFill>
                  <a:srgbClr val="2563EB"/>
                </a:solidFill>
              </a:rPr>
              <a:t>• </a:t>
            </a:r>
            <a:r>
              <a:rPr b="1">
                <a:solidFill>
                  <a:srgbClr val="0F172A"/>
                </a:solidFill>
              </a:rPr>
              <a:t>Fusión Operativa: </a:t>
            </a:r>
            <a:r>
              <a:rPr b="0">
                <a:solidFill>
                  <a:srgbClr val="475569"/>
                </a:solidFill>
              </a:rPr>
              <a:t>Consolidamos el Triage de llamadas y el Despacho en un rol unificado: el Operador Integral.</a:t>
            </a:r>
          </a:p>
          <a:p>
            <a:pPr>
              <a:spcAft>
                <a:spcPts val="600"/>
              </a:spcAft>
              <a:defRPr sz="1050"/>
            </a:pPr>
            <a:r>
              <a:rPr b="1">
                <a:solidFill>
                  <a:srgbClr val="2563EB"/>
                </a:solidFill>
              </a:rPr>
              <a:t>• </a:t>
            </a:r>
            <a:r>
              <a:rPr b="1">
                <a:solidFill>
                  <a:srgbClr val="0F172A"/>
                </a:solidFill>
              </a:rPr>
              <a:t>Algoritmo Haversine: </a:t>
            </a:r>
            <a:r>
              <a:rPr b="0">
                <a:solidFill>
                  <a:srgbClr val="475569"/>
                </a:solidFill>
              </a:rPr>
              <a:t>Cálculo en vivo de la distancia geodésica y tiempo estimado de llegada (ETA) de cada unidad disponible.</a:t>
            </a:r>
          </a:p>
          <a:p>
            <a:pPr>
              <a:spcAft>
                <a:spcPts val="600"/>
              </a:spcAft>
              <a:defRPr sz="1050"/>
            </a:pPr>
            <a:r>
              <a:rPr b="1">
                <a:solidFill>
                  <a:srgbClr val="2563EB"/>
                </a:solidFill>
              </a:rPr>
              <a:t>• </a:t>
            </a:r>
            <a:r>
              <a:rPr b="1">
                <a:solidFill>
                  <a:srgbClr val="0F172A"/>
                </a:solidFill>
              </a:rPr>
              <a:t>Despacho en 3 Clics: </a:t>
            </a:r>
            <a:r>
              <a:rPr b="0">
                <a:solidFill>
                  <a:srgbClr val="475569"/>
                </a:solidFill>
              </a:rPr>
              <a:t>Asignación táctica inmediata a la patrulla o ambulancia óptima en menos de 10 segundos.</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400"/>
              </a:spcAft>
              <a:defRPr b="1" sz="1400">
                <a:solidFill>
                  <a:srgbClr val="16A34A"/>
                </a:solidFill>
              </a:defRPr>
            </a:pPr>
            <a:r>
              <a:t>🔒 Trazabilidad y Auditoría (RNF-09)</a:t>
            </a:r>
          </a:p>
          <a:p>
            <a:pPr>
              <a:spcAft>
                <a:spcPts val="600"/>
              </a:spcAft>
              <a:defRPr sz="1050"/>
            </a:pPr>
            <a:r>
              <a:rPr b="1">
                <a:solidFill>
                  <a:srgbClr val="2563EB"/>
                </a:solidFill>
              </a:rPr>
              <a:t>• </a:t>
            </a:r>
            <a:r>
              <a:rPr b="1">
                <a:solidFill>
                  <a:srgbClr val="0F172A"/>
                </a:solidFill>
              </a:rPr>
              <a:t>Bitácora Criptográfica: </a:t>
            </a:r>
            <a:r>
              <a:rPr b="0">
                <a:solidFill>
                  <a:srgbClr val="475569"/>
                </a:solidFill>
              </a:rPr>
              <a:t>Cada acción genera un registro inmutable en PostgreSQL (LogAuditoria) con usuario, IP y timestamp.</a:t>
            </a:r>
          </a:p>
          <a:p>
            <a:pPr>
              <a:spcAft>
                <a:spcPts val="600"/>
              </a:spcAft>
              <a:defRPr sz="1050"/>
            </a:pPr>
            <a:r>
              <a:rPr b="1">
                <a:solidFill>
                  <a:srgbClr val="2563EB"/>
                </a:solidFill>
              </a:rPr>
              <a:t>• </a:t>
            </a:r>
            <a:r>
              <a:rPr b="1">
                <a:solidFill>
                  <a:srgbClr val="0F172A"/>
                </a:solidFill>
              </a:rPr>
              <a:t>Cadena de Custodia: </a:t>
            </a:r>
            <a:r>
              <a:rPr b="0">
                <a:solidFill>
                  <a:srgbClr val="475569"/>
                </a:solidFill>
              </a:rPr>
              <a:t>Validez probatoria judicial para esclarecer tiempos de respuesta y actuación de los oficiales.</a:t>
            </a:r>
          </a:p>
          <a:p>
            <a:pPr>
              <a:spcAft>
                <a:spcPts val="600"/>
              </a:spcAft>
              <a:defRPr sz="1050"/>
            </a:pPr>
            <a:r>
              <a:rPr b="1">
                <a:solidFill>
                  <a:srgbClr val="2563EB"/>
                </a:solidFill>
              </a:rPr>
              <a:t>• </a:t>
            </a:r>
            <a:r>
              <a:rPr b="1">
                <a:solidFill>
                  <a:srgbClr val="0F172A"/>
                </a:solidFill>
              </a:rPr>
              <a:t>Transparencia Ciudadana: </a:t>
            </a:r>
            <a:r>
              <a:rPr b="0">
                <a:solidFill>
                  <a:srgbClr val="475569"/>
                </a:solidFill>
              </a:rPr>
              <a:t>El ciudadano sigue en su app el cambio de estado de su caso sin intermediarios.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INGENIERÍA DE SOFTWARE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Arquitectura Tecnológica del Ecosistema SIGEM</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Ecosistema cliente-servidor desacoplado, modular y de alta concurrencia</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4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1E3A8A"/>
                </a:solidFill>
              </a:defRPr>
            </a:pPr>
            <a:r>
              <a:t>🖥️ Capa de Presentación Web</a:t>
            </a:r>
          </a:p>
          <a:p>
            <a:pPr>
              <a:spcAft>
                <a:spcPts val="600"/>
              </a:spcAft>
              <a:defRPr sz="1000"/>
            </a:pPr>
            <a:r>
              <a:rPr b="1">
                <a:solidFill>
                  <a:srgbClr val="2563EB"/>
                </a:solidFill>
              </a:rPr>
              <a:t>• </a:t>
            </a:r>
            <a:r>
              <a:rPr b="1">
                <a:solidFill>
                  <a:srgbClr val="0F172A"/>
                </a:solidFill>
              </a:rPr>
              <a:t>Next.js 14 (App Router): </a:t>
            </a:r>
            <a:r>
              <a:rPr b="0">
                <a:solidFill>
                  <a:srgbClr val="475569"/>
                </a:solidFill>
              </a:rPr>
              <a:t>Renderizado híbrido React con Server Components para máxima velocidad de carga.</a:t>
            </a:r>
          </a:p>
          <a:p>
            <a:pPr>
              <a:spcAft>
                <a:spcPts val="600"/>
              </a:spcAft>
              <a:defRPr sz="1000"/>
            </a:pPr>
            <a:r>
              <a:rPr b="1">
                <a:solidFill>
                  <a:srgbClr val="2563EB"/>
                </a:solidFill>
              </a:rPr>
              <a:t>• </a:t>
            </a:r>
            <a:r>
              <a:rPr b="1">
                <a:solidFill>
                  <a:srgbClr val="0F172A"/>
                </a:solidFill>
              </a:rPr>
              <a:t>Tailwind CSS: </a:t>
            </a:r>
            <a:r>
              <a:rPr b="0">
                <a:solidFill>
                  <a:srgbClr val="475569"/>
                </a:solidFill>
              </a:rPr>
              <a:t>Diseño ergonómico de grado militar de alta legibilidad para turnos operativos 24/7.</a:t>
            </a:r>
          </a:p>
          <a:p>
            <a:pPr>
              <a:spcAft>
                <a:spcPts val="600"/>
              </a:spcAft>
              <a:defRPr sz="1000"/>
            </a:pPr>
            <a:r>
              <a:rPr b="1">
                <a:solidFill>
                  <a:srgbClr val="2563EB"/>
                </a:solidFill>
              </a:rPr>
              <a:t>• </a:t>
            </a:r>
            <a:r>
              <a:rPr b="1">
                <a:solidFill>
                  <a:srgbClr val="0F172A"/>
                </a:solidFill>
              </a:rPr>
              <a:t>GIS &amp; Leaflet OSM: </a:t>
            </a:r>
            <a:r>
              <a:rPr b="0">
                <a:solidFill>
                  <a:srgbClr val="475569"/>
                </a:solidFill>
              </a:rPr>
              <a:t>Cartografía interactiva con capas de incidentes, clustering geodésico y polígonos de cobertura.</a:t>
            </a:r>
          </a:p>
          <a:p>
            <a:pPr>
              <a:spcAft>
                <a:spcPts val="600"/>
              </a:spcAft>
              <a:defRPr sz="1000"/>
            </a:pPr>
            <a:r>
              <a:rPr b="1">
                <a:solidFill>
                  <a:srgbClr val="2563EB"/>
                </a:solidFill>
              </a:rPr>
              <a:t>• </a:t>
            </a:r>
            <a:r>
              <a:rPr b="1">
                <a:solidFill>
                  <a:srgbClr val="0F172A"/>
                </a:solidFill>
              </a:rPr>
              <a:t>Web Audio API: </a:t>
            </a:r>
            <a:r>
              <a:rPr b="0">
                <a:solidFill>
                  <a:srgbClr val="475569"/>
                </a:solidFill>
              </a:rPr>
              <a:t>Alertas sonoras sintéticas automáticas para emergencias de prioridad 'Alta' sin dependencias externas.</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0E7490"/>
                </a:solidFill>
              </a:defRPr>
            </a:pPr>
            <a:r>
              <a:t>⚙️ Capa de Lógica &amp; Backend</a:t>
            </a:r>
          </a:p>
          <a:p>
            <a:pPr>
              <a:spcAft>
                <a:spcPts val="600"/>
              </a:spcAft>
              <a:defRPr sz="1000"/>
            </a:pPr>
            <a:r>
              <a:rPr b="1">
                <a:solidFill>
                  <a:srgbClr val="2563EB"/>
                </a:solidFill>
              </a:rPr>
              <a:t>• </a:t>
            </a:r>
            <a:r>
              <a:rPr b="1">
                <a:solidFill>
                  <a:srgbClr val="0F172A"/>
                </a:solidFill>
              </a:rPr>
              <a:t>Node.js &amp; Express TS: </a:t>
            </a:r>
            <a:r>
              <a:rPr b="0">
                <a:solidFill>
                  <a:srgbClr val="475569"/>
                </a:solidFill>
              </a:rPr>
              <a:t>Microservicios REST con TypeScript estricto garantizando tipado integral de punta a punta.</a:t>
            </a:r>
          </a:p>
          <a:p>
            <a:pPr>
              <a:spcAft>
                <a:spcPts val="600"/>
              </a:spcAft>
              <a:defRPr sz="1000"/>
            </a:pPr>
            <a:r>
              <a:rPr b="1">
                <a:solidFill>
                  <a:srgbClr val="2563EB"/>
                </a:solidFill>
              </a:rPr>
              <a:t>• </a:t>
            </a:r>
            <a:r>
              <a:rPr b="1">
                <a:solidFill>
                  <a:srgbClr val="0F172A"/>
                </a:solidFill>
              </a:rPr>
              <a:t>Prisma ORM: </a:t>
            </a:r>
            <a:r>
              <a:rPr b="0">
                <a:solidFill>
                  <a:srgbClr val="475569"/>
                </a:solidFill>
              </a:rPr>
              <a:t>Capa de acceso a datos segura contra inyecciones SQL, con migraciones automáticas y seeds.</a:t>
            </a:r>
          </a:p>
          <a:p>
            <a:pPr>
              <a:spcAft>
                <a:spcPts val="600"/>
              </a:spcAft>
              <a:defRPr sz="1000"/>
            </a:pPr>
            <a:r>
              <a:rPr b="1">
                <a:solidFill>
                  <a:srgbClr val="2563EB"/>
                </a:solidFill>
              </a:rPr>
              <a:t>• </a:t>
            </a:r>
            <a:r>
              <a:rPr b="1">
                <a:solidFill>
                  <a:srgbClr val="0F172A"/>
                </a:solidFill>
              </a:rPr>
              <a:t>PostgreSQL 15+: </a:t>
            </a:r>
            <a:r>
              <a:rPr b="0">
                <a:solidFill>
                  <a:srgbClr val="475569"/>
                </a:solidFill>
              </a:rPr>
              <a:t>Motor relacional ACID con soporte de transacciones y llaves foráneas estrictas.</a:t>
            </a:r>
          </a:p>
          <a:p>
            <a:pPr>
              <a:spcAft>
                <a:spcPts val="600"/>
              </a:spcAft>
              <a:defRPr sz="1000"/>
            </a:pPr>
            <a:r>
              <a:rPr b="1">
                <a:solidFill>
                  <a:srgbClr val="2563EB"/>
                </a:solidFill>
              </a:rPr>
              <a:t>• </a:t>
            </a:r>
            <a:r>
              <a:rPr b="1">
                <a:solidFill>
                  <a:srgbClr val="0F172A"/>
                </a:solidFill>
              </a:rPr>
              <a:t>Zod &amp; JWT Middleware: </a:t>
            </a:r>
            <a:r>
              <a:rPr b="0">
                <a:solidFill>
                  <a:srgbClr val="475569"/>
                </a:solidFill>
              </a:rPr>
              <a:t>Validación rigurosa de contratos JSON en cada ruta y control de sesión stateless.</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16A34A"/>
                </a:solidFill>
              </a:defRPr>
            </a:pPr>
            <a:r>
              <a:t>📱 Capa Móvil Híbrida</a:t>
            </a:r>
          </a:p>
          <a:p>
            <a:pPr>
              <a:spcAft>
                <a:spcPts val="600"/>
              </a:spcAft>
              <a:defRPr sz="1000"/>
            </a:pPr>
            <a:r>
              <a:rPr b="1">
                <a:solidFill>
                  <a:srgbClr val="2563EB"/>
                </a:solidFill>
              </a:rPr>
              <a:t>• </a:t>
            </a:r>
            <a:r>
              <a:rPr b="1">
                <a:solidFill>
                  <a:srgbClr val="0F172A"/>
                </a:solidFill>
              </a:rPr>
              <a:t>React Native &amp; Expo 52: </a:t>
            </a:r>
            <a:r>
              <a:rPr b="0">
                <a:solidFill>
                  <a:srgbClr val="475569"/>
                </a:solidFill>
              </a:rPr>
              <a:t>Base de código única para despliegue multiplataforma en dispositivos Android e iOS.</a:t>
            </a:r>
          </a:p>
          <a:p>
            <a:pPr>
              <a:spcAft>
                <a:spcPts val="600"/>
              </a:spcAft>
              <a:defRPr sz="1000"/>
            </a:pPr>
            <a:r>
              <a:rPr b="1">
                <a:solidFill>
                  <a:srgbClr val="2563EB"/>
                </a:solidFill>
              </a:rPr>
              <a:t>• </a:t>
            </a:r>
            <a:r>
              <a:rPr b="1">
                <a:solidFill>
                  <a:srgbClr val="0F172A"/>
                </a:solidFill>
              </a:rPr>
              <a:t>Expo Location &amp; Camera: </a:t>
            </a:r>
            <a:r>
              <a:rPr b="0">
                <a:solidFill>
                  <a:srgbClr val="475569"/>
                </a:solidFill>
              </a:rPr>
              <a:t>Acceso nativo al hardware GPS de bajo consumo y captura de fotos de evidencia.</a:t>
            </a:r>
          </a:p>
          <a:p>
            <a:pPr>
              <a:spcAft>
                <a:spcPts val="600"/>
              </a:spcAft>
              <a:defRPr sz="1000"/>
            </a:pPr>
            <a:r>
              <a:rPr b="1">
                <a:solidFill>
                  <a:srgbClr val="2563EB"/>
                </a:solidFill>
              </a:rPr>
              <a:t>• </a:t>
            </a:r>
            <a:r>
              <a:rPr b="1">
                <a:solidFill>
                  <a:srgbClr val="0F172A"/>
                </a:solidFill>
              </a:rPr>
              <a:t>AsyncStorage &amp; Context API: </a:t>
            </a:r>
            <a:r>
              <a:rPr b="0">
                <a:solidFill>
                  <a:srgbClr val="475569"/>
                </a:solidFill>
              </a:rPr>
              <a:t>Gestión de estado global, persistencia de credenciales y restauración de sesión en frío.</a:t>
            </a:r>
          </a:p>
          <a:p>
            <a:pPr>
              <a:spcAft>
                <a:spcPts val="600"/>
              </a:spcAft>
              <a:defRPr sz="1000"/>
            </a:pPr>
            <a:r>
              <a:rPr b="1">
                <a:solidFill>
                  <a:srgbClr val="2563EB"/>
                </a:solidFill>
              </a:rPr>
              <a:t>• </a:t>
            </a:r>
            <a:r>
              <a:rPr b="1">
                <a:solidFill>
                  <a:srgbClr val="0F172A"/>
                </a:solidFill>
              </a:rPr>
              <a:t>Sondeo Reactivo Inteligente: </a:t>
            </a:r>
            <a:r>
              <a:rPr b="0">
                <a:solidFill>
                  <a:srgbClr val="475569"/>
                </a:solidFill>
              </a:rPr>
              <a:t>Mecanismo tolerante a caídas de túnel o intermitencia de red celular en patrullaje.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GOBERNANZA Y SEGURIDAD</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Modelo Institucional de Roles (RBAC)</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Estructura de gobernanza estricta donde solo el Administrador gestiona el personal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5 / 15</a:t>
            </a:r>
          </a:p>
        </p:txBody>
      </p:sp>
      <p:sp>
        <p:nvSpPr>
          <p:cNvPr id="9" name="Rounded Rectangle 8"/>
          <p:cNvSpPr/>
          <p:nvPr/>
        </p:nvSpPr>
        <p:spPr>
          <a:xfrm>
            <a:off x="731520" y="1737360"/>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1E3A8A"/>
                </a:solidFill>
              </a:defRPr>
            </a:pPr>
            <a:r>
              <a:t>👑 ADMINISTRADOR (Web)</a:t>
            </a:r>
          </a:p>
          <a:p>
            <a:pPr>
              <a:spcAft>
                <a:spcPts val="600"/>
              </a:spcAft>
              <a:defRPr sz="950" b="1">
                <a:solidFill>
                  <a:srgbClr val="475569"/>
                </a:solidFill>
              </a:defRPr>
            </a:pPr>
            <a:r>
              <a:t>Control Total y Aprovisionamiento</a:t>
            </a:r>
          </a:p>
          <a:p>
            <a:pPr>
              <a:spcAft>
                <a:spcPts val="600"/>
              </a:spcAft>
              <a:defRPr sz="950"/>
            </a:pPr>
            <a:r>
              <a:rPr b="1">
                <a:solidFill>
                  <a:srgbClr val="2563EB"/>
                </a:solidFill>
              </a:rPr>
              <a:t>• </a:t>
            </a:r>
            <a:r>
              <a:rPr b="1">
                <a:solidFill>
                  <a:srgbClr val="0F172A"/>
                </a:solidFill>
              </a:rPr>
              <a:t>Facultad Exclusiva: </a:t>
            </a:r>
            <a:r>
              <a:rPr b="0">
                <a:solidFill>
                  <a:srgbClr val="475569"/>
                </a:solidFill>
              </a:rPr>
              <a:t>Único rol autorizado para crear, editar, reasignar y dar de baja personal de campo y operadores.</a:t>
            </a:r>
          </a:p>
          <a:p>
            <a:pPr>
              <a:spcAft>
                <a:spcPts val="600"/>
              </a:spcAft>
              <a:defRPr sz="950"/>
            </a:pPr>
            <a:r>
              <a:rPr b="1">
                <a:solidFill>
                  <a:srgbClr val="2563EB"/>
                </a:solidFill>
              </a:rPr>
              <a:t>• </a:t>
            </a:r>
            <a:r>
              <a:rPr b="1">
                <a:solidFill>
                  <a:srgbClr val="0F172A"/>
                </a:solidFill>
              </a:rPr>
              <a:t>Supervisión Táctica: </a:t>
            </a:r>
            <a:r>
              <a:rPr b="0">
                <a:solidFill>
                  <a:srgbClr val="475569"/>
                </a:solidFill>
              </a:rPr>
              <a:t>Acceso al módulo global de auditoría, catálogos de incidentes y métricas de desempeño.</a:t>
            </a:r>
          </a:p>
          <a:p>
            <a:pPr>
              <a:spcAft>
                <a:spcPts val="600"/>
              </a:spcAft>
              <a:defRPr sz="950"/>
            </a:pPr>
            <a:r>
              <a:rPr b="1">
                <a:solidFill>
                  <a:srgbClr val="2563EB"/>
                </a:solidFill>
              </a:rPr>
              <a:t>• </a:t>
            </a:r>
            <a:r>
              <a:rPr b="1">
                <a:solidFill>
                  <a:srgbClr val="0F172A"/>
                </a:solidFill>
              </a:rPr>
              <a:t>Gobernanza de Flota: </a:t>
            </a:r>
            <a:r>
              <a:rPr b="0">
                <a:solidFill>
                  <a:srgbClr val="475569"/>
                </a:solidFill>
              </a:rPr>
              <a:t>Supervisa el parque automotor y la disponibilidad general de las unidades de respuesta.</a:t>
            </a:r>
          </a:p>
        </p:txBody>
      </p:sp>
      <p:sp>
        <p:nvSpPr>
          <p:cNvPr id="10" name="Rounded Rectangle 9"/>
          <p:cNvSpPr/>
          <p:nvPr/>
        </p:nvSpPr>
        <p:spPr>
          <a:xfrm>
            <a:off x="6217920" y="1737360"/>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2563EB"/>
                </a:solidFill>
              </a:defRPr>
            </a:pPr>
            <a:r>
              <a:t>🎧 OPERADOR INTEGRAL (Web)</a:t>
            </a:r>
          </a:p>
          <a:p>
            <a:pPr>
              <a:spcAft>
                <a:spcPts val="600"/>
              </a:spcAft>
              <a:defRPr sz="950" b="1">
                <a:solidFill>
                  <a:srgbClr val="475569"/>
                </a:solidFill>
              </a:defRPr>
            </a:pPr>
            <a:r>
              <a:t>Consolidación Operativa CAD</a:t>
            </a:r>
          </a:p>
          <a:p>
            <a:pPr>
              <a:spcAft>
                <a:spcPts val="600"/>
              </a:spcAft>
              <a:defRPr sz="950"/>
            </a:pPr>
            <a:r>
              <a:rPr b="1">
                <a:solidFill>
                  <a:srgbClr val="2563EB"/>
                </a:solidFill>
              </a:rPr>
              <a:t>• </a:t>
            </a:r>
            <a:r>
              <a:rPr b="1">
                <a:solidFill>
                  <a:srgbClr val="0F172A"/>
                </a:solidFill>
              </a:rPr>
              <a:t>Fusión Estratégica: </a:t>
            </a:r>
            <a:r>
              <a:rPr b="0">
                <a:solidFill>
                  <a:srgbClr val="475569"/>
                </a:solidFill>
              </a:rPr>
              <a:t>Unifica las funciones de operador de triage y despachador en una sola consola ágil.</a:t>
            </a:r>
          </a:p>
          <a:p>
            <a:pPr>
              <a:spcAft>
                <a:spcPts val="600"/>
              </a:spcAft>
              <a:defRPr sz="950"/>
            </a:pPr>
            <a:r>
              <a:rPr b="1">
                <a:solidFill>
                  <a:srgbClr val="2563EB"/>
                </a:solidFill>
              </a:rPr>
              <a:t>• </a:t>
            </a:r>
            <a:r>
              <a:rPr b="1">
                <a:solidFill>
                  <a:srgbClr val="0F172A"/>
                </a:solidFill>
              </a:rPr>
              <a:t>Triage en Vivo: </a:t>
            </a:r>
            <a:r>
              <a:rPr b="0">
                <a:solidFill>
                  <a:srgbClr val="475569"/>
                </a:solidFill>
              </a:rPr>
              <a:t>Valida reportes ciudadanos, ajusta niveles de severidad y tipifica según el catálogo.</a:t>
            </a:r>
          </a:p>
          <a:p>
            <a:pPr>
              <a:spcAft>
                <a:spcPts val="600"/>
              </a:spcAft>
              <a:defRPr sz="950"/>
            </a:pPr>
            <a:r>
              <a:rPr b="1">
                <a:solidFill>
                  <a:srgbClr val="2563EB"/>
                </a:solidFill>
              </a:rPr>
              <a:t>• </a:t>
            </a:r>
            <a:r>
              <a:rPr b="1">
                <a:solidFill>
                  <a:srgbClr val="0F172A"/>
                </a:solidFill>
              </a:rPr>
              <a:t>Despacho Interactivo: </a:t>
            </a:r>
            <a:r>
              <a:rPr b="0">
                <a:solidFill>
                  <a:srgbClr val="475569"/>
                </a:solidFill>
              </a:rPr>
              <a:t>Selecciona unidades disponibles evaluando distancia y envía la orden con un solo clic.</a:t>
            </a:r>
          </a:p>
        </p:txBody>
      </p:sp>
      <p:sp>
        <p:nvSpPr>
          <p:cNvPr id="11" name="Rounded Rectangle 10"/>
          <p:cNvSpPr/>
          <p:nvPr/>
        </p:nvSpPr>
        <p:spPr>
          <a:xfrm>
            <a:off x="731520" y="3977639"/>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16A34A"/>
                </a:solidFill>
              </a:defRPr>
            </a:pPr>
            <a:r>
              <a:t>🚨 PERSONAL DE CAMPO (Mobile)</a:t>
            </a:r>
          </a:p>
          <a:p>
            <a:pPr>
              <a:spcAft>
                <a:spcPts val="600"/>
              </a:spcAft>
              <a:defRPr sz="950" b="1">
                <a:solidFill>
                  <a:srgbClr val="475569"/>
                </a:solidFill>
              </a:defRPr>
            </a:pPr>
            <a:r>
              <a:t>Brazo Ejecutor en Terreno</a:t>
            </a:r>
          </a:p>
          <a:p>
            <a:pPr>
              <a:spcAft>
                <a:spcPts val="600"/>
              </a:spcAft>
              <a:defRPr sz="950"/>
            </a:pPr>
            <a:r>
              <a:rPr b="1">
                <a:solidFill>
                  <a:srgbClr val="2563EB"/>
                </a:solidFill>
              </a:rPr>
              <a:t>• </a:t>
            </a:r>
            <a:r>
              <a:rPr b="1">
                <a:solidFill>
                  <a:srgbClr val="0F172A"/>
                </a:solidFill>
              </a:rPr>
              <a:t>Identidad Oficial: </a:t>
            </a:r>
            <a:r>
              <a:rPr b="0">
                <a:solidFill>
                  <a:srgbClr val="475569"/>
                </a:solidFill>
              </a:rPr>
              <a:t>Vinculado obligatoriamente a una unidad oficial vehicular (ej. Patrulla PL-01).</a:t>
            </a:r>
          </a:p>
          <a:p>
            <a:pPr>
              <a:spcAft>
                <a:spcPts val="600"/>
              </a:spcAft>
              <a:defRPr sz="950"/>
            </a:pPr>
            <a:r>
              <a:rPr b="1">
                <a:solidFill>
                  <a:srgbClr val="2563EB"/>
                </a:solidFill>
              </a:rPr>
              <a:t>• </a:t>
            </a:r>
            <a:r>
              <a:rPr b="1">
                <a:solidFill>
                  <a:srgbClr val="0F172A"/>
                </a:solidFill>
              </a:rPr>
              <a:t>Misiones Tácticas: </a:t>
            </a:r>
            <a:r>
              <a:rPr b="0">
                <a:solidFill>
                  <a:srgbClr val="475569"/>
                </a:solidFill>
              </a:rPr>
              <a:t>Recibe la asignación con ruta, datos del afectado y botón para confirmar llegada y cierre.</a:t>
            </a:r>
          </a:p>
          <a:p>
            <a:pPr>
              <a:spcAft>
                <a:spcPts val="600"/>
              </a:spcAft>
              <a:defRPr sz="950"/>
            </a:pPr>
            <a:r>
              <a:rPr b="1">
                <a:solidFill>
                  <a:srgbClr val="2563EB"/>
                </a:solidFill>
              </a:rPr>
              <a:t>• </a:t>
            </a:r>
            <a:r>
              <a:rPr b="1">
                <a:solidFill>
                  <a:srgbClr val="0F172A"/>
                </a:solidFill>
              </a:rPr>
              <a:t>Telemetría en Vivo: </a:t>
            </a:r>
            <a:r>
              <a:rPr b="0">
                <a:solidFill>
                  <a:srgbClr val="475569"/>
                </a:solidFill>
              </a:rPr>
              <a:t>Reporta automáticamente su estado operativo (Disponible, En Camino, En Escena).</a:t>
            </a:r>
          </a:p>
        </p:txBody>
      </p:sp>
      <p:sp>
        <p:nvSpPr>
          <p:cNvPr id="12" name="Rounded Rectangle 11"/>
          <p:cNvSpPr/>
          <p:nvPr/>
        </p:nvSpPr>
        <p:spPr>
          <a:xfrm>
            <a:off x="6217920" y="3977639"/>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0E7490"/>
                </a:solidFill>
              </a:defRPr>
            </a:pPr>
            <a:r>
              <a:t>👥 CIUDADANO (Mobile)</a:t>
            </a:r>
          </a:p>
          <a:p>
            <a:pPr>
              <a:spcAft>
                <a:spcPts val="600"/>
              </a:spcAft>
              <a:defRPr sz="950" b="1">
                <a:solidFill>
                  <a:srgbClr val="475569"/>
                </a:solidFill>
              </a:defRPr>
            </a:pPr>
            <a:r>
              <a:t>Canal Público de Auxilio</a:t>
            </a:r>
          </a:p>
          <a:p>
            <a:pPr>
              <a:spcAft>
                <a:spcPts val="600"/>
              </a:spcAft>
              <a:defRPr sz="950"/>
            </a:pPr>
            <a:r>
              <a:rPr b="1">
                <a:solidFill>
                  <a:srgbClr val="2563EB"/>
                </a:solidFill>
              </a:rPr>
              <a:t>• </a:t>
            </a:r>
            <a:r>
              <a:rPr b="1">
                <a:solidFill>
                  <a:srgbClr val="0F172A"/>
                </a:solidFill>
              </a:rPr>
              <a:t>Autoregistro Libre: </a:t>
            </a:r>
            <a:r>
              <a:rPr b="0">
                <a:solidFill>
                  <a:srgbClr val="475569"/>
                </a:solidFill>
              </a:rPr>
              <a:t>Único rol permitido para registrarse directamente desde la app móvil.</a:t>
            </a:r>
          </a:p>
          <a:p>
            <a:pPr>
              <a:spcAft>
                <a:spcPts val="600"/>
              </a:spcAft>
              <a:defRPr sz="950"/>
            </a:pPr>
            <a:r>
              <a:rPr b="1">
                <a:solidFill>
                  <a:srgbClr val="2563EB"/>
                </a:solidFill>
              </a:rPr>
              <a:t>• </a:t>
            </a:r>
            <a:r>
              <a:rPr b="1">
                <a:solidFill>
                  <a:srgbClr val="0F172A"/>
                </a:solidFill>
              </a:rPr>
              <a:t>Botón de Pánico SOS: </a:t>
            </a:r>
            <a:r>
              <a:rPr b="0">
                <a:solidFill>
                  <a:srgbClr val="475569"/>
                </a:solidFill>
              </a:rPr>
              <a:t>Genera reportes inmediatos con ubicación satelital precisa y evidencia fotográfica.</a:t>
            </a:r>
          </a:p>
          <a:p>
            <a:pPr>
              <a:spcAft>
                <a:spcPts val="600"/>
              </a:spcAft>
              <a:defRPr sz="950"/>
            </a:pPr>
            <a:r>
              <a:rPr b="1">
                <a:solidFill>
                  <a:srgbClr val="2563EB"/>
                </a:solidFill>
              </a:rPr>
              <a:t>• </a:t>
            </a:r>
            <a:r>
              <a:rPr b="1">
                <a:solidFill>
                  <a:srgbClr val="0F172A"/>
                </a:solidFill>
              </a:rPr>
              <a:t>Seguimiento Transparente: </a:t>
            </a:r>
            <a:r>
              <a:rPr b="0">
                <a:solidFill>
                  <a:srgbClr val="475569"/>
                </a:solidFill>
              </a:rPr>
              <a:t>Visualiza el estado de su emergencia y la unidad asignada para su tranquilidad.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GESTIÓN DE RECURSOS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Autoasignación Táctica y Nomenclatura de Flota</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Estandarización institucional de códigos vehiculares con numeración correlativa</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6 / 15</a:t>
            </a:r>
          </a:p>
        </p:txBody>
      </p:sp>
      <p:sp>
        <p:nvSpPr>
          <p:cNvPr id="9" name="Rounded Rectangle 8"/>
          <p:cNvSpPr/>
          <p:nvPr/>
        </p:nvSpPr>
        <p:spPr>
          <a:xfrm>
            <a:off x="73152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1E3A8A"/>
                </a:solidFill>
              </a:defRPr>
            </a:pPr>
            <a:r>
              <a:t>🏛️ Nomenclatura Oficial por Cuerpo de Respuesta</a:t>
            </a:r>
          </a:p>
          <a:p>
            <a:pPr>
              <a:spcAft>
                <a:spcPts val="600"/>
              </a:spcAft>
              <a:defRPr sz="1000"/>
            </a:pPr>
            <a:r>
              <a:rPr b="1">
                <a:solidFill>
                  <a:srgbClr val="2563EB"/>
                </a:solidFill>
              </a:rPr>
              <a:t>▪ </a:t>
            </a:r>
            <a:r>
              <a:rPr b="1">
                <a:solidFill>
                  <a:srgbClr val="0F172A"/>
                </a:solidFill>
              </a:rPr>
              <a:t>🚔 PL - Policía Nacional: </a:t>
            </a:r>
            <a:r>
              <a:rPr b="0">
                <a:solidFill>
                  <a:srgbClr val="475569"/>
                </a:solidFill>
              </a:rPr>
              <a:t>Patrullas de vigilancia, cuadrantes urbanos y reacción rápida.</a:t>
            </a:r>
          </a:p>
          <a:p>
            <a:pPr>
              <a:spcAft>
                <a:spcPts val="600"/>
              </a:spcAft>
              <a:defRPr sz="1000"/>
            </a:pPr>
            <a:r>
              <a:rPr b="1">
                <a:solidFill>
                  <a:srgbClr val="2563EB"/>
                </a:solidFill>
              </a:rPr>
              <a:t>▪ </a:t>
            </a:r>
            <a:r>
              <a:rPr b="1">
                <a:solidFill>
                  <a:srgbClr val="0F172A"/>
                </a:solidFill>
              </a:rPr>
              <a:t>🚑 AM - Ambulancia Médica: </a:t>
            </a:r>
            <a:r>
              <a:rPr b="0">
                <a:solidFill>
                  <a:srgbClr val="475569"/>
                </a:solidFill>
              </a:rPr>
              <a:t>Unidades de Soporte Vital Básico (SVB) y Avanzado (SVA).</a:t>
            </a:r>
          </a:p>
          <a:p>
            <a:pPr>
              <a:spcAft>
                <a:spcPts val="600"/>
              </a:spcAft>
              <a:defRPr sz="1000"/>
            </a:pPr>
            <a:r>
              <a:rPr b="1">
                <a:solidFill>
                  <a:srgbClr val="2563EB"/>
                </a:solidFill>
              </a:rPr>
              <a:t>▪ </a:t>
            </a:r>
            <a:r>
              <a:rPr b="1">
                <a:solidFill>
                  <a:srgbClr val="0F172A"/>
                </a:solidFill>
              </a:rPr>
              <a:t>🚒 BM - Cuerpo de Bomberos: </a:t>
            </a:r>
            <a:r>
              <a:rPr b="0">
                <a:solidFill>
                  <a:srgbClr val="475569"/>
                </a:solidFill>
              </a:rPr>
              <a:t>Carrobombas, vehículos de rescate y combate de materiales peligrosos.</a:t>
            </a:r>
          </a:p>
          <a:p>
            <a:pPr>
              <a:spcAft>
                <a:spcPts val="600"/>
              </a:spcAft>
              <a:defRPr sz="1000"/>
            </a:pPr>
            <a:r>
              <a:rPr b="1">
                <a:solidFill>
                  <a:srgbClr val="2563EB"/>
                </a:solidFill>
              </a:rPr>
              <a:t>▪ </a:t>
            </a:r>
            <a:r>
              <a:rPr b="1">
                <a:solidFill>
                  <a:srgbClr val="0F172A"/>
                </a:solidFill>
              </a:rPr>
              <a:t>🚦 TR - Tránsito y Movilidad: </a:t>
            </a:r>
            <a:r>
              <a:rPr b="0">
                <a:solidFill>
                  <a:srgbClr val="475569"/>
                </a:solidFill>
              </a:rPr>
              <a:t>Unidades motorizadas y grúas de control de congestión y siniestros.</a:t>
            </a:r>
          </a:p>
          <a:p>
            <a:pPr>
              <a:spcAft>
                <a:spcPts val="600"/>
              </a:spcAft>
              <a:defRPr sz="1000"/>
            </a:pPr>
            <a:r>
              <a:rPr b="1">
                <a:solidFill>
                  <a:srgbClr val="2563EB"/>
                </a:solidFill>
              </a:rPr>
              <a:t>▪ </a:t>
            </a:r>
            <a:r>
              <a:rPr b="1">
                <a:solidFill>
                  <a:srgbClr val="0F172A"/>
                </a:solidFill>
              </a:rPr>
              <a:t>🦺 DC - Defensa Civil: </a:t>
            </a:r>
            <a:r>
              <a:rPr b="0">
                <a:solidFill>
                  <a:srgbClr val="475569"/>
                </a:solidFill>
              </a:rPr>
              <a:t>Rescate en estructuras colapsadas, desastres naturales y ayuda humanitaria.</a:t>
            </a:r>
          </a:p>
        </p:txBody>
      </p:sp>
      <p:sp>
        <p:nvSpPr>
          <p:cNvPr id="10" name="Rounded Rectangle 9"/>
          <p:cNvSpPr/>
          <p:nvPr/>
        </p:nvSpPr>
        <p:spPr>
          <a:xfrm>
            <a:off x="6217920" y="1737360"/>
            <a:ext cx="52120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2563EB"/>
                </a:solidFill>
              </a:defRPr>
            </a:pPr>
            <a:r>
              <a:t>⚙️ Lógica Automatizada de Aprovisionamiento</a:t>
            </a:r>
          </a:p>
          <a:p>
            <a:pPr>
              <a:spcAft>
                <a:spcPts val="600"/>
              </a:spcAft>
              <a:defRPr sz="1000"/>
            </a:pPr>
            <a:r>
              <a:rPr b="1">
                <a:solidFill>
                  <a:srgbClr val="2563EB"/>
                </a:solidFill>
              </a:rPr>
              <a:t>✓ </a:t>
            </a:r>
            <a:r>
              <a:rPr b="1">
                <a:solidFill>
                  <a:srgbClr val="0F172A"/>
                </a:solidFill>
              </a:rPr>
              <a:t>1. Alta en Administración: </a:t>
            </a:r>
            <a:r>
              <a:rPr b="0">
                <a:solidFill>
                  <a:srgbClr val="475569"/>
                </a:solidFill>
              </a:rPr>
              <a:t>El Administrador hace clic en 'Crear Nuevo Personal', diligencia nombres, documento y selecciona el cuerpo (ej. Policía).</a:t>
            </a:r>
          </a:p>
          <a:p>
            <a:pPr>
              <a:spcAft>
                <a:spcPts val="600"/>
              </a:spcAft>
              <a:defRPr sz="1000"/>
            </a:pPr>
            <a:r>
              <a:rPr b="1">
                <a:solidFill>
                  <a:srgbClr val="2563EB"/>
                </a:solidFill>
              </a:rPr>
              <a:t>✓ </a:t>
            </a:r>
            <a:r>
              <a:rPr b="1">
                <a:solidFill>
                  <a:srgbClr val="0F172A"/>
                </a:solidFill>
              </a:rPr>
              <a:t>2. Generación Correlativa: </a:t>
            </a:r>
            <a:r>
              <a:rPr b="0">
                <a:solidFill>
                  <a:srgbClr val="475569"/>
                </a:solidFill>
              </a:rPr>
              <a:t>El backend consulta la base de datos y calcula el siguiente consecutivo (ej. si existe PL-01, genera PL-02 automáticamente).</a:t>
            </a:r>
          </a:p>
          <a:p>
            <a:pPr>
              <a:spcAft>
                <a:spcPts val="600"/>
              </a:spcAft>
              <a:defRPr sz="1000"/>
            </a:pPr>
            <a:r>
              <a:rPr b="1">
                <a:solidFill>
                  <a:srgbClr val="2563EB"/>
                </a:solidFill>
              </a:rPr>
              <a:t>✓ </a:t>
            </a:r>
            <a:r>
              <a:rPr b="1">
                <a:solidFill>
                  <a:srgbClr val="0F172A"/>
                </a:solidFill>
              </a:rPr>
              <a:t>3. Vinculación 1 a 1: </a:t>
            </a:r>
            <a:r>
              <a:rPr b="0">
                <a:solidFill>
                  <a:srgbClr val="475569"/>
                </a:solidFill>
              </a:rPr>
              <a:t>Se crea el registro en la tabla 'UnidadRespuesta' asignando el ID del oficial y marcándola en estado 'DISPONIBLE'.</a:t>
            </a:r>
          </a:p>
          <a:p>
            <a:pPr>
              <a:spcAft>
                <a:spcPts val="600"/>
              </a:spcAft>
              <a:defRPr sz="1000"/>
            </a:pPr>
            <a:r>
              <a:rPr b="1">
                <a:solidFill>
                  <a:srgbClr val="2563EB"/>
                </a:solidFill>
              </a:rPr>
              <a:t>✓ </a:t>
            </a:r>
            <a:r>
              <a:rPr b="1">
                <a:solidFill>
                  <a:srgbClr val="0F172A"/>
                </a:solidFill>
              </a:rPr>
              <a:t>4. Sincronización en App: </a:t>
            </a:r>
            <a:r>
              <a:rPr b="0">
                <a:solidFill>
                  <a:srgbClr val="475569"/>
                </a:solidFill>
              </a:rPr>
              <a:t>Cuando el oficial inicia sesión en su teléfono, el endpoint /auth/me le entrega su badge oficial: 'Unidad [PL-02] • Patrulla Policial'.</a:t>
            </a:r>
          </a:p>
          <a:p>
            <a:pPr>
              <a:spcAft>
                <a:spcPts val="600"/>
              </a:spcAft>
              <a:defRPr sz="1000"/>
            </a:pPr>
            <a:r>
              <a:rPr b="1">
                <a:solidFill>
                  <a:srgbClr val="2563EB"/>
                </a:solidFill>
              </a:rPr>
              <a:t>✓ </a:t>
            </a:r>
            <a:r>
              <a:rPr b="1">
                <a:solidFill>
                  <a:srgbClr val="0F172A"/>
                </a:solidFill>
              </a:rPr>
              <a:t>5. Visibilidad en Despacho: </a:t>
            </a:r>
            <a:r>
              <a:rPr b="0">
                <a:solidFill>
                  <a:srgbClr val="475569"/>
                </a:solidFill>
              </a:rPr>
              <a:t>El Operador Integral en la web ve inmediatamente a la unidad en la lista de recursos disponibles para ser enviada a la escena.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FLUJO OPERATIVO</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Ciclo de Vida de la Emergencia de Extremo a Extremo</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Flujo secuencial de 5 estados que garantiza respuesta oportuna y trazabilidad total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7 / 15</a:t>
            </a:r>
          </a:p>
        </p:txBody>
      </p:sp>
      <p:sp>
        <p:nvSpPr>
          <p:cNvPr id="9" name="Rounded Rectangle 8"/>
          <p:cNvSpPr/>
          <p:nvPr/>
        </p:nvSpPr>
        <p:spPr>
          <a:xfrm>
            <a:off x="731520" y="1737360"/>
            <a:ext cx="196596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1200"/>
              </a:spcAft>
              <a:defRPr b="1" sz="1200">
                <a:solidFill>
                  <a:srgbClr val="DC2626"/>
                </a:solidFill>
              </a:defRPr>
            </a:pPr>
            <a:r>
              <a:t>1. REPORTADO</a:t>
            </a:r>
          </a:p>
          <a:p>
            <a:pPr>
              <a:spcAft>
                <a:spcPts val="600"/>
              </a:spcAft>
              <a:defRPr sz="950"/>
            </a:pPr>
            <a:r>
              <a:rPr b="1">
                <a:solidFill>
                  <a:srgbClr val="2563EB"/>
                </a:solidFill>
              </a:rPr>
              <a:t>• </a:t>
            </a:r>
            <a:r>
              <a:rPr b="1">
                <a:solidFill>
                  <a:srgbClr val="0F172A"/>
                </a:solidFill>
              </a:rPr>
              <a:t>Actor: </a:t>
            </a:r>
            <a:r>
              <a:rPr b="0">
                <a:solidFill>
                  <a:srgbClr val="475569"/>
                </a:solidFill>
              </a:rPr>
              <a:t>Ciudadano (App Móvil).</a:t>
            </a:r>
          </a:p>
          <a:p>
            <a:pPr>
              <a:spcAft>
                <a:spcPts val="600"/>
              </a:spcAft>
              <a:defRPr sz="950"/>
            </a:pPr>
            <a:r>
              <a:rPr b="1">
                <a:solidFill>
                  <a:srgbClr val="2563EB"/>
                </a:solidFill>
              </a:rPr>
              <a:t>• </a:t>
            </a:r>
            <a:r>
              <a:rPr b="1">
                <a:solidFill>
                  <a:srgbClr val="0F172A"/>
                </a:solidFill>
              </a:rPr>
              <a:t>Acción: </a:t>
            </a:r>
            <a:r>
              <a:rPr b="0">
                <a:solidFill>
                  <a:srgbClr val="475569"/>
                </a:solidFill>
              </a:rPr>
              <a:t>Envío de SOS con GPS exacto, descripción y fotos del incidente.</a:t>
            </a:r>
          </a:p>
          <a:p>
            <a:pPr>
              <a:spcAft>
                <a:spcPts val="600"/>
              </a:spcAft>
              <a:defRPr sz="950"/>
            </a:pPr>
            <a:r>
              <a:rPr b="1">
                <a:solidFill>
                  <a:srgbClr val="2563EB"/>
                </a:solidFill>
              </a:rPr>
              <a:t>• </a:t>
            </a:r>
            <a:r>
              <a:rPr b="1">
                <a:solidFill>
                  <a:srgbClr val="0F172A"/>
                </a:solidFill>
              </a:rPr>
              <a:t>Efecto: </a:t>
            </a:r>
            <a:r>
              <a:rPr b="0">
                <a:solidFill>
                  <a:srgbClr val="475569"/>
                </a:solidFill>
              </a:rPr>
              <a:t>Notificación sonora en Web CAD y registro inicial en base de datos.</a:t>
            </a:r>
          </a:p>
        </p:txBody>
      </p:sp>
      <p:sp>
        <p:nvSpPr>
          <p:cNvPr id="10" name="Rounded Rectangle 9"/>
          <p:cNvSpPr/>
          <p:nvPr/>
        </p:nvSpPr>
        <p:spPr>
          <a:xfrm>
            <a:off x="2916936" y="1737360"/>
            <a:ext cx="196596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1200"/>
              </a:spcAft>
              <a:defRPr b="1" sz="1200">
                <a:solidFill>
                  <a:srgbClr val="D97706"/>
                </a:solidFill>
              </a:defRPr>
            </a:pPr>
            <a:r>
              <a:t>2. CLASIFICADO</a:t>
            </a:r>
          </a:p>
          <a:p>
            <a:pPr>
              <a:spcAft>
                <a:spcPts val="600"/>
              </a:spcAft>
              <a:defRPr sz="950"/>
            </a:pPr>
            <a:r>
              <a:rPr b="1">
                <a:solidFill>
                  <a:srgbClr val="2563EB"/>
                </a:solidFill>
              </a:rPr>
              <a:t>• </a:t>
            </a:r>
            <a:r>
              <a:rPr b="1">
                <a:solidFill>
                  <a:srgbClr val="0F172A"/>
                </a:solidFill>
              </a:rPr>
              <a:t>Actor: </a:t>
            </a:r>
            <a:r>
              <a:rPr b="0">
                <a:solidFill>
                  <a:srgbClr val="475569"/>
                </a:solidFill>
              </a:rPr>
              <a:t>Operador Integral (Web).</a:t>
            </a:r>
          </a:p>
          <a:p>
            <a:pPr>
              <a:spcAft>
                <a:spcPts val="600"/>
              </a:spcAft>
              <a:defRPr sz="950"/>
            </a:pPr>
            <a:r>
              <a:rPr b="1">
                <a:solidFill>
                  <a:srgbClr val="2563EB"/>
                </a:solidFill>
              </a:rPr>
              <a:t>• </a:t>
            </a:r>
            <a:r>
              <a:rPr b="1">
                <a:solidFill>
                  <a:srgbClr val="0F172A"/>
                </a:solidFill>
              </a:rPr>
              <a:t>Acción: </a:t>
            </a:r>
            <a:r>
              <a:rPr b="0">
                <a:solidFill>
                  <a:srgbClr val="475569"/>
                </a:solidFill>
              </a:rPr>
              <a:t>Revisión rápida de veracidad y asignación de nivel de severidad.</a:t>
            </a:r>
          </a:p>
          <a:p>
            <a:pPr>
              <a:spcAft>
                <a:spcPts val="600"/>
              </a:spcAft>
              <a:defRPr sz="950"/>
            </a:pPr>
            <a:r>
              <a:rPr b="1">
                <a:solidFill>
                  <a:srgbClr val="2563EB"/>
                </a:solidFill>
              </a:rPr>
              <a:t>• </a:t>
            </a:r>
            <a:r>
              <a:rPr b="1">
                <a:solidFill>
                  <a:srgbClr val="0F172A"/>
                </a:solidFill>
              </a:rPr>
              <a:t>Efecto: </a:t>
            </a:r>
            <a:r>
              <a:rPr b="0">
                <a:solidFill>
                  <a:srgbClr val="475569"/>
                </a:solidFill>
              </a:rPr>
              <a:t>Filtrado en cola de despacho por prioridad (Alta, Media, Baja).</a:t>
            </a:r>
          </a:p>
        </p:txBody>
      </p:sp>
      <p:sp>
        <p:nvSpPr>
          <p:cNvPr id="11" name="Rounded Rectangle 10"/>
          <p:cNvSpPr/>
          <p:nvPr/>
        </p:nvSpPr>
        <p:spPr>
          <a:xfrm>
            <a:off x="5102352" y="1737360"/>
            <a:ext cx="196596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1200"/>
              </a:spcAft>
              <a:defRPr b="1" sz="1200">
                <a:solidFill>
                  <a:srgbClr val="2563EB"/>
                </a:solidFill>
              </a:defRPr>
            </a:pPr>
            <a:r>
              <a:t>3. ASIGNADO</a:t>
            </a:r>
          </a:p>
          <a:p>
            <a:pPr>
              <a:spcAft>
                <a:spcPts val="600"/>
              </a:spcAft>
              <a:defRPr sz="950"/>
            </a:pPr>
            <a:r>
              <a:rPr b="1">
                <a:solidFill>
                  <a:srgbClr val="2563EB"/>
                </a:solidFill>
              </a:rPr>
              <a:t>• </a:t>
            </a:r>
            <a:r>
              <a:rPr b="1">
                <a:solidFill>
                  <a:srgbClr val="0F172A"/>
                </a:solidFill>
              </a:rPr>
              <a:t>Actor: </a:t>
            </a:r>
            <a:r>
              <a:rPr b="0">
                <a:solidFill>
                  <a:srgbClr val="475569"/>
                </a:solidFill>
              </a:rPr>
              <a:t>Operador Integral (Web).</a:t>
            </a:r>
          </a:p>
          <a:p>
            <a:pPr>
              <a:spcAft>
                <a:spcPts val="600"/>
              </a:spcAft>
              <a:defRPr sz="950"/>
            </a:pPr>
            <a:r>
              <a:rPr b="1">
                <a:solidFill>
                  <a:srgbClr val="2563EB"/>
                </a:solidFill>
              </a:rPr>
              <a:t>• </a:t>
            </a:r>
            <a:r>
              <a:rPr b="1">
                <a:solidFill>
                  <a:srgbClr val="0F172A"/>
                </a:solidFill>
              </a:rPr>
              <a:t>Acción: </a:t>
            </a:r>
            <a:r>
              <a:rPr b="0">
                <a:solidFill>
                  <a:srgbClr val="475569"/>
                </a:solidFill>
              </a:rPr>
              <a:t>Selección de unidad cercana disponible mediante cálculo Haversine.</a:t>
            </a:r>
          </a:p>
          <a:p>
            <a:pPr>
              <a:spcAft>
                <a:spcPts val="600"/>
              </a:spcAft>
              <a:defRPr sz="950"/>
            </a:pPr>
            <a:r>
              <a:rPr b="1">
                <a:solidFill>
                  <a:srgbClr val="2563EB"/>
                </a:solidFill>
              </a:rPr>
              <a:t>• </a:t>
            </a:r>
            <a:r>
              <a:rPr b="1">
                <a:solidFill>
                  <a:srgbClr val="0F172A"/>
                </a:solidFill>
              </a:rPr>
              <a:t>Efecto: </a:t>
            </a:r>
            <a:r>
              <a:rPr b="0">
                <a:solidFill>
                  <a:srgbClr val="475569"/>
                </a:solidFill>
              </a:rPr>
              <a:t>Despacho emitido; la unidad pasa a estado OCUPADA; alerta móvil.</a:t>
            </a:r>
          </a:p>
        </p:txBody>
      </p:sp>
      <p:sp>
        <p:nvSpPr>
          <p:cNvPr id="12" name="Rounded Rectangle 11"/>
          <p:cNvSpPr/>
          <p:nvPr/>
        </p:nvSpPr>
        <p:spPr>
          <a:xfrm>
            <a:off x="7287768" y="1737360"/>
            <a:ext cx="196596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1200"/>
              </a:spcAft>
              <a:defRPr b="1" sz="1200">
                <a:solidFill>
                  <a:srgbClr val="1E3A8A"/>
                </a:solidFill>
              </a:defRPr>
            </a:pPr>
            <a:r>
              <a:t>4. EN ATENCIÓN</a:t>
            </a:r>
          </a:p>
          <a:p>
            <a:pPr>
              <a:spcAft>
                <a:spcPts val="600"/>
              </a:spcAft>
              <a:defRPr sz="950"/>
            </a:pPr>
            <a:r>
              <a:rPr b="1">
                <a:solidFill>
                  <a:srgbClr val="2563EB"/>
                </a:solidFill>
              </a:rPr>
              <a:t>• </a:t>
            </a:r>
            <a:r>
              <a:rPr b="1">
                <a:solidFill>
                  <a:srgbClr val="0F172A"/>
                </a:solidFill>
              </a:rPr>
              <a:t>Actor: </a:t>
            </a:r>
            <a:r>
              <a:rPr b="0">
                <a:solidFill>
                  <a:srgbClr val="475569"/>
                </a:solidFill>
              </a:rPr>
              <a:t>Personal de Campo (Mobile).</a:t>
            </a:r>
          </a:p>
          <a:p>
            <a:pPr>
              <a:spcAft>
                <a:spcPts val="600"/>
              </a:spcAft>
              <a:defRPr sz="950"/>
            </a:pPr>
            <a:r>
              <a:rPr b="1">
                <a:solidFill>
                  <a:srgbClr val="2563EB"/>
                </a:solidFill>
              </a:rPr>
              <a:t>• </a:t>
            </a:r>
            <a:r>
              <a:rPr b="1">
                <a:solidFill>
                  <a:srgbClr val="0F172A"/>
                </a:solidFill>
              </a:rPr>
              <a:t>Acción: </a:t>
            </a:r>
            <a:r>
              <a:rPr b="0">
                <a:solidFill>
                  <a:srgbClr val="475569"/>
                </a:solidFill>
              </a:rPr>
              <a:t>El oficial confirma 'En Camino' y posteriormente 'En Escena'.</a:t>
            </a:r>
          </a:p>
          <a:p>
            <a:pPr>
              <a:spcAft>
                <a:spcPts val="600"/>
              </a:spcAft>
              <a:defRPr sz="950"/>
            </a:pPr>
            <a:r>
              <a:rPr b="1">
                <a:solidFill>
                  <a:srgbClr val="2563EB"/>
                </a:solidFill>
              </a:rPr>
              <a:t>• </a:t>
            </a:r>
            <a:r>
              <a:rPr b="1">
                <a:solidFill>
                  <a:srgbClr val="0F172A"/>
                </a:solidFill>
              </a:rPr>
              <a:t>Efecto: </a:t>
            </a:r>
            <a:r>
              <a:rPr b="0">
                <a:solidFill>
                  <a:srgbClr val="475569"/>
                </a:solidFill>
              </a:rPr>
              <a:t>El ciudadano ve en su app el progreso; telemetría en tiempo real.</a:t>
            </a:r>
          </a:p>
        </p:txBody>
      </p:sp>
      <p:sp>
        <p:nvSpPr>
          <p:cNvPr id="13" name="Rounded Rectangle 12"/>
          <p:cNvSpPr/>
          <p:nvPr/>
        </p:nvSpPr>
        <p:spPr>
          <a:xfrm>
            <a:off x="9473184" y="1737360"/>
            <a:ext cx="196596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1200"/>
              </a:spcAft>
              <a:defRPr b="1" sz="1200">
                <a:solidFill>
                  <a:srgbClr val="16A34A"/>
                </a:solidFill>
              </a:defRPr>
            </a:pPr>
            <a:r>
              <a:t>5. CERRADO</a:t>
            </a:r>
          </a:p>
          <a:p>
            <a:pPr>
              <a:spcAft>
                <a:spcPts val="600"/>
              </a:spcAft>
              <a:defRPr sz="950"/>
            </a:pPr>
            <a:r>
              <a:rPr b="1">
                <a:solidFill>
                  <a:srgbClr val="2563EB"/>
                </a:solidFill>
              </a:rPr>
              <a:t>• </a:t>
            </a:r>
            <a:r>
              <a:rPr b="1">
                <a:solidFill>
                  <a:srgbClr val="0F172A"/>
                </a:solidFill>
              </a:rPr>
              <a:t>Actor: </a:t>
            </a:r>
            <a:r>
              <a:rPr b="0">
                <a:solidFill>
                  <a:srgbClr val="475569"/>
                </a:solidFill>
              </a:rPr>
              <a:t>Personal / Operador.</a:t>
            </a:r>
          </a:p>
          <a:p>
            <a:pPr>
              <a:spcAft>
                <a:spcPts val="600"/>
              </a:spcAft>
              <a:defRPr sz="950"/>
            </a:pPr>
            <a:r>
              <a:rPr b="1">
                <a:solidFill>
                  <a:srgbClr val="2563EB"/>
                </a:solidFill>
              </a:rPr>
              <a:t>• </a:t>
            </a:r>
            <a:r>
              <a:rPr b="1">
                <a:solidFill>
                  <a:srgbClr val="0F172A"/>
                </a:solidFill>
              </a:rPr>
              <a:t>Acción: </a:t>
            </a:r>
            <a:r>
              <a:rPr b="0">
                <a:solidFill>
                  <a:srgbClr val="475569"/>
                </a:solidFill>
              </a:rPr>
              <a:t>Resolución del evento, registro de hallazgos y cierre formal.</a:t>
            </a:r>
          </a:p>
          <a:p>
            <a:pPr>
              <a:spcAft>
                <a:spcPts val="600"/>
              </a:spcAft>
              <a:defRPr sz="950"/>
            </a:pPr>
            <a:r>
              <a:rPr b="1">
                <a:solidFill>
                  <a:srgbClr val="2563EB"/>
                </a:solidFill>
              </a:rPr>
              <a:t>• </a:t>
            </a:r>
            <a:r>
              <a:rPr b="1">
                <a:solidFill>
                  <a:srgbClr val="0F172A"/>
                </a:solidFill>
              </a:rPr>
              <a:t>Efecto: </a:t>
            </a:r>
            <a:r>
              <a:rPr b="0">
                <a:solidFill>
                  <a:srgbClr val="475569"/>
                </a:solidFill>
              </a:rPr>
              <a:t>La unidad vehicular vuelve a estado DISPONIBLE; archivo del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BACKEND &amp; DATOS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Ingeniería de Backend y Modelo Relacional</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Arquitectura en capas, esquemas Prisma y transacciones seguras en PostgreSQL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8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E3A8A"/>
                </a:solidFill>
              </a:defRPr>
            </a:pPr>
            <a:r>
              <a:t>🗄️ Entidades Principales (Prisma)</a:t>
            </a:r>
          </a:p>
          <a:p>
            <a:pPr>
              <a:spcAft>
                <a:spcPts val="600"/>
              </a:spcAft>
              <a:defRPr sz="1000"/>
            </a:pPr>
            <a:r>
              <a:rPr b="1">
                <a:solidFill>
                  <a:srgbClr val="2563EB"/>
                </a:solidFill>
              </a:rPr>
              <a:t>• </a:t>
            </a:r>
            <a:r>
              <a:rPr b="1">
                <a:solidFill>
                  <a:srgbClr val="0F172A"/>
                </a:solidFill>
              </a:rPr>
              <a:t>Usuario: </a:t>
            </a:r>
            <a:r>
              <a:rPr b="0">
                <a:solidFill>
                  <a:srgbClr val="475569"/>
                </a:solidFill>
              </a:rPr>
              <a:t>Gestión de credenciales con hash bcrypt, rol RBAC, nombres, teléfono y relación a unidad.</a:t>
            </a:r>
          </a:p>
          <a:p>
            <a:pPr>
              <a:spcAft>
                <a:spcPts val="600"/>
              </a:spcAft>
              <a:defRPr sz="1000"/>
            </a:pPr>
            <a:r>
              <a:rPr b="1">
                <a:solidFill>
                  <a:srgbClr val="2563EB"/>
                </a:solidFill>
              </a:rPr>
              <a:t>• </a:t>
            </a:r>
            <a:r>
              <a:rPr b="1">
                <a:solidFill>
                  <a:srgbClr val="0F172A"/>
                </a:solidFill>
              </a:rPr>
              <a:t>UnidadRespuesta: </a:t>
            </a:r>
            <a:r>
              <a:rPr b="0">
                <a:solidFill>
                  <a:srgbClr val="475569"/>
                </a:solidFill>
              </a:rPr>
              <a:t>Código táctico (PL-01), tipo de cuerpo, placa vehicular, estado operativo y GPS.</a:t>
            </a:r>
          </a:p>
          <a:p>
            <a:pPr>
              <a:spcAft>
                <a:spcPts val="600"/>
              </a:spcAft>
              <a:defRPr sz="1000"/>
            </a:pPr>
            <a:r>
              <a:rPr b="1">
                <a:solidFill>
                  <a:srgbClr val="2563EB"/>
                </a:solidFill>
              </a:rPr>
              <a:t>• </a:t>
            </a:r>
            <a:r>
              <a:rPr b="1">
                <a:solidFill>
                  <a:srgbClr val="0F172A"/>
                </a:solidFill>
              </a:rPr>
              <a:t>Emergencia: </a:t>
            </a:r>
            <a:r>
              <a:rPr b="0">
                <a:solidFill>
                  <a:srgbClr val="475569"/>
                </a:solidFill>
              </a:rPr>
              <a:t>Geolocalización (lat/lng), descripción, fotos de evidencia, severidad y clave foránea de unidad.</a:t>
            </a:r>
          </a:p>
          <a:p>
            <a:pPr>
              <a:spcAft>
                <a:spcPts val="600"/>
              </a:spcAft>
              <a:defRPr sz="1000"/>
            </a:pPr>
            <a:r>
              <a:rPr b="1">
                <a:solidFill>
                  <a:srgbClr val="2563EB"/>
                </a:solidFill>
              </a:rPr>
              <a:t>• </a:t>
            </a:r>
            <a:r>
              <a:rPr b="1">
                <a:solidFill>
                  <a:srgbClr val="0F172A"/>
                </a:solidFill>
              </a:rPr>
              <a:t>CatalogoEmergencia: </a:t>
            </a:r>
            <a:r>
              <a:rPr b="0">
                <a:solidFill>
                  <a:srgbClr val="475569"/>
                </a:solidFill>
              </a:rPr>
              <a:t>Catálogo dinámico y administrable de tipos de incidentes según directrices gubernamentales (RF-09).</a:t>
            </a:r>
          </a:p>
          <a:p>
            <a:pPr>
              <a:spcAft>
                <a:spcPts val="600"/>
              </a:spcAft>
              <a:defRPr sz="1000"/>
            </a:pPr>
            <a:r>
              <a:rPr b="1">
                <a:solidFill>
                  <a:srgbClr val="2563EB"/>
                </a:solidFill>
              </a:rPr>
              <a:t>• </a:t>
            </a:r>
            <a:r>
              <a:rPr b="1">
                <a:solidFill>
                  <a:srgbClr val="0F172A"/>
                </a:solidFill>
              </a:rPr>
              <a:t>LogAuditoria: </a:t>
            </a:r>
            <a:r>
              <a:rPr b="0">
                <a:solidFill>
                  <a:srgbClr val="475569"/>
                </a:solidFill>
              </a:rPr>
              <a:t>Bitácora inmutable de eventos con usuario autor, acción, valores antes/después y marca de tiempo.</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0E7490"/>
                </a:solidFill>
              </a:defRPr>
            </a:pPr>
            <a:r>
              <a:t>🔐 Pipeline de Middlewares &amp; Seguridad</a:t>
            </a:r>
          </a:p>
          <a:p>
            <a:pPr>
              <a:spcAft>
                <a:spcPts val="600"/>
              </a:spcAft>
              <a:defRPr sz="1000"/>
            </a:pPr>
            <a:r>
              <a:rPr b="1">
                <a:solidFill>
                  <a:srgbClr val="2563EB"/>
                </a:solidFill>
              </a:rPr>
              <a:t>• </a:t>
            </a:r>
            <a:r>
              <a:rPr b="1">
                <a:solidFill>
                  <a:srgbClr val="0F172A"/>
                </a:solidFill>
              </a:rPr>
              <a:t>JWT Auth Guard: </a:t>
            </a:r>
            <a:r>
              <a:rPr b="0">
                <a:solidFill>
                  <a:srgbClr val="475569"/>
                </a:solidFill>
              </a:rPr>
              <a:t>Extracción stateless del token Bearer, verificación criptográfica de firma y expiración.</a:t>
            </a:r>
          </a:p>
          <a:p>
            <a:pPr>
              <a:spcAft>
                <a:spcPts val="600"/>
              </a:spcAft>
              <a:defRPr sz="1000"/>
            </a:pPr>
            <a:r>
              <a:rPr b="1">
                <a:solidFill>
                  <a:srgbClr val="2563EB"/>
                </a:solidFill>
              </a:rPr>
              <a:t>• </a:t>
            </a:r>
            <a:r>
              <a:rPr b="1">
                <a:solidFill>
                  <a:srgbClr val="0F172A"/>
                </a:solidFill>
              </a:rPr>
              <a:t>RBAC Authorization: </a:t>
            </a:r>
            <a:r>
              <a:rPr b="0">
                <a:solidFill>
                  <a:srgbClr val="475569"/>
                </a:solidFill>
              </a:rPr>
              <a:t>Validación declarativa de roles en cada ruta (ej. solo ADMIN puede invocar POST /usuarios).</a:t>
            </a:r>
          </a:p>
          <a:p>
            <a:pPr>
              <a:spcAft>
                <a:spcPts val="600"/>
              </a:spcAft>
              <a:defRPr sz="1000"/>
            </a:pPr>
            <a:r>
              <a:rPr b="1">
                <a:solidFill>
                  <a:srgbClr val="2563EB"/>
                </a:solidFill>
              </a:rPr>
              <a:t>• </a:t>
            </a:r>
            <a:r>
              <a:rPr b="1">
                <a:solidFill>
                  <a:srgbClr val="0F172A"/>
                </a:solidFill>
              </a:rPr>
              <a:t>Esquemas Zod: </a:t>
            </a:r>
            <a:r>
              <a:rPr b="0">
                <a:solidFill>
                  <a:srgbClr val="475569"/>
                </a:solidFill>
              </a:rPr>
              <a:t>Validación estricta de tipos de datos de entrada previniendo ataques de inyección y deformación JSON.</a:t>
            </a:r>
          </a:p>
          <a:p>
            <a:pPr>
              <a:spcAft>
                <a:spcPts val="600"/>
              </a:spcAft>
              <a:defRPr sz="1000"/>
            </a:pPr>
            <a:r>
              <a:rPr b="1">
                <a:solidFill>
                  <a:srgbClr val="2563EB"/>
                </a:solidFill>
              </a:rPr>
              <a:t>• </a:t>
            </a:r>
            <a:r>
              <a:rPr b="1">
                <a:solidFill>
                  <a:srgbClr val="0F172A"/>
                </a:solidFill>
              </a:rPr>
              <a:t>Manejador de Errores Global: </a:t>
            </a:r>
            <a:r>
              <a:rPr b="0">
                <a:solidFill>
                  <a:srgbClr val="475569"/>
                </a:solidFill>
              </a:rPr>
              <a:t>Captura centralizada de excepciones Prisma y HTTP retornando códigos estandarizados (400, 401, 403, 404, 500).</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6A34A"/>
                </a:solidFill>
              </a:defRPr>
            </a:pPr>
            <a:r>
              <a:t>📡 Endpoints Clave del Sistema</a:t>
            </a:r>
          </a:p>
          <a:p>
            <a:pPr>
              <a:spcAft>
                <a:spcPts val="600"/>
              </a:spcAft>
              <a:defRPr sz="1000"/>
            </a:pPr>
            <a:r>
              <a:rPr b="1">
                <a:solidFill>
                  <a:srgbClr val="2563EB"/>
                </a:solidFill>
              </a:rPr>
              <a:t>• </a:t>
            </a:r>
            <a:r>
              <a:rPr b="1">
                <a:solidFill>
                  <a:srgbClr val="0F172A"/>
                </a:solidFill>
              </a:rPr>
              <a:t>GET /api/v1/auth/me: </a:t>
            </a:r>
            <a:r>
              <a:rPr b="0">
                <a:solidFill>
                  <a:srgbClr val="475569"/>
                </a:solidFill>
              </a:rPr>
              <a:t>Sincroniza en caliente el perfil del usuario autenticado y su unidad vehicular asignada.</a:t>
            </a:r>
          </a:p>
          <a:p>
            <a:pPr>
              <a:spcAft>
                <a:spcPts val="600"/>
              </a:spcAft>
              <a:defRPr sz="1000"/>
            </a:pPr>
            <a:r>
              <a:rPr b="1">
                <a:solidFill>
                  <a:srgbClr val="2563EB"/>
                </a:solidFill>
              </a:rPr>
              <a:t>• </a:t>
            </a:r>
            <a:r>
              <a:rPr b="1">
                <a:solidFill>
                  <a:srgbClr val="0F172A"/>
                </a:solidFill>
              </a:rPr>
              <a:t>PATCH /emergencias/:id/asignar: </a:t>
            </a:r>
            <a:r>
              <a:rPr b="0">
                <a:solidFill>
                  <a:srgbClr val="475569"/>
                </a:solidFill>
              </a:rPr>
              <a:t>Transacción atómica: asocia la unidad, cambia estado a ASIGNADO y graba auditoría.</a:t>
            </a:r>
          </a:p>
          <a:p>
            <a:pPr>
              <a:spcAft>
                <a:spcPts val="600"/>
              </a:spcAft>
              <a:defRPr sz="1000"/>
            </a:pPr>
            <a:r>
              <a:rPr b="1">
                <a:solidFill>
                  <a:srgbClr val="2563EB"/>
                </a:solidFill>
              </a:rPr>
              <a:t>• </a:t>
            </a:r>
            <a:r>
              <a:rPr b="1">
                <a:solidFill>
                  <a:srgbClr val="0F172A"/>
                </a:solidFill>
              </a:rPr>
              <a:t>GET /unidades/disponibles: </a:t>
            </a:r>
            <a:r>
              <a:rPr b="0">
                <a:solidFill>
                  <a:srgbClr val="475569"/>
                </a:solidFill>
              </a:rPr>
              <a:t>Filtra en milisegundos las unidades operativas listas para recibir despacho.</a:t>
            </a:r>
          </a:p>
          <a:p>
            <a:pPr>
              <a:spcAft>
                <a:spcPts val="600"/>
              </a:spcAft>
              <a:defRPr sz="1000"/>
            </a:pPr>
            <a:r>
              <a:rPr b="1">
                <a:solidFill>
                  <a:srgbClr val="2563EB"/>
                </a:solidFill>
              </a:rPr>
              <a:t>• </a:t>
            </a:r>
            <a:r>
              <a:rPr b="1">
                <a:solidFill>
                  <a:srgbClr val="0F172A"/>
                </a:solidFill>
              </a:rPr>
              <a:t>GET /emergencias/mapa: </a:t>
            </a:r>
            <a:r>
              <a:rPr b="0">
                <a:solidFill>
                  <a:srgbClr val="475569"/>
                </a:solidFill>
              </a:rPr>
              <a:t>Entrega los puntos geográficos de incidentes activos para renderizado en el mapa GIS.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CONSOLA WEB CAD</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Centro de Comando Táctico para Operadores</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Next.js 14 diseñado para toma de decisiones rápida bajo situaciones de alta presión</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9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E3A8A"/>
                </a:solidFill>
              </a:defRPr>
            </a:pPr>
            <a:r>
              <a:t>🗺️ Cartografía Operativa GIS</a:t>
            </a:r>
          </a:p>
          <a:p>
            <a:pPr>
              <a:spcAft>
                <a:spcPts val="600"/>
              </a:spcAft>
              <a:defRPr sz="1000"/>
            </a:pPr>
            <a:r>
              <a:rPr b="1">
                <a:solidFill>
                  <a:srgbClr val="2563EB"/>
                </a:solidFill>
              </a:rPr>
              <a:t>• </a:t>
            </a:r>
            <a:r>
              <a:rPr b="1">
                <a:solidFill>
                  <a:srgbClr val="0F172A"/>
                </a:solidFill>
              </a:rPr>
              <a:t>Integración Leaflet OSM: </a:t>
            </a:r>
            <a:r>
              <a:rPr b="0">
                <a:solidFill>
                  <a:srgbClr val="475569"/>
                </a:solidFill>
              </a:rPr>
              <a:t>Visualización geoespacial de alta velocidad sin costes por llamada API de mapas propietarios.</a:t>
            </a:r>
          </a:p>
          <a:p>
            <a:pPr>
              <a:spcAft>
                <a:spcPts val="600"/>
              </a:spcAft>
              <a:defRPr sz="1000"/>
            </a:pPr>
            <a:r>
              <a:rPr b="1">
                <a:solidFill>
                  <a:srgbClr val="2563EB"/>
                </a:solidFill>
              </a:rPr>
              <a:t>• </a:t>
            </a:r>
            <a:r>
              <a:rPr b="1">
                <a:solidFill>
                  <a:srgbClr val="0F172A"/>
                </a:solidFill>
              </a:rPr>
              <a:t>Iconografía Táctica: </a:t>
            </a:r>
            <a:r>
              <a:rPr b="0">
                <a:solidFill>
                  <a:srgbClr val="475569"/>
                </a:solidFill>
              </a:rPr>
              <a:t>Marcadores diferenciados por cuerpo de respuesta (azul policía, rojo bomberos, verde ambulancia).</a:t>
            </a:r>
          </a:p>
          <a:p>
            <a:pPr>
              <a:spcAft>
                <a:spcPts val="600"/>
              </a:spcAft>
              <a:defRPr sz="1000"/>
            </a:pPr>
            <a:r>
              <a:rPr b="1">
                <a:solidFill>
                  <a:srgbClr val="2563EB"/>
                </a:solidFill>
              </a:rPr>
              <a:t>• </a:t>
            </a:r>
            <a:r>
              <a:rPr b="1">
                <a:solidFill>
                  <a:srgbClr val="0F172A"/>
                </a:solidFill>
              </a:rPr>
              <a:t>Geocodificación Inversa: </a:t>
            </a:r>
            <a:r>
              <a:rPr b="0">
                <a:solidFill>
                  <a:srgbClr val="475569"/>
                </a:solidFill>
              </a:rPr>
              <a:t>Conversión instantánea de coordenadas GPS en dirección vial y barrio comprensible.</a:t>
            </a:r>
          </a:p>
          <a:p>
            <a:pPr>
              <a:spcAft>
                <a:spcPts val="600"/>
              </a:spcAft>
              <a:defRPr sz="1000"/>
            </a:pPr>
            <a:r>
              <a:rPr b="1">
                <a:solidFill>
                  <a:srgbClr val="2563EB"/>
                </a:solidFill>
              </a:rPr>
              <a:t>• </a:t>
            </a:r>
            <a:r>
              <a:rPr b="1">
                <a:solidFill>
                  <a:srgbClr val="0F172A"/>
                </a:solidFill>
              </a:rPr>
              <a:t>Filtros por Estado: </a:t>
            </a:r>
            <a:r>
              <a:rPr b="0">
                <a:solidFill>
                  <a:srgbClr val="475569"/>
                </a:solidFill>
              </a:rPr>
              <a:t>Visualización conmutada de emergencias activas, unidades en ruta y zonas críticas.</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2563EB"/>
                </a:solidFill>
              </a:defRPr>
            </a:pPr>
            <a:r>
              <a:t>🎯 Despacho Asistido Inteligente</a:t>
            </a:r>
          </a:p>
          <a:p>
            <a:pPr>
              <a:spcAft>
                <a:spcPts val="600"/>
              </a:spcAft>
              <a:defRPr sz="1000"/>
            </a:pPr>
            <a:r>
              <a:rPr b="1">
                <a:solidFill>
                  <a:srgbClr val="2563EB"/>
                </a:solidFill>
              </a:rPr>
              <a:t>• </a:t>
            </a:r>
            <a:r>
              <a:rPr b="1">
                <a:solidFill>
                  <a:srgbClr val="0F172A"/>
                </a:solidFill>
              </a:rPr>
              <a:t>Algoritmo Haversine: </a:t>
            </a:r>
            <a:r>
              <a:rPr b="0">
                <a:solidFill>
                  <a:srgbClr val="475569"/>
                </a:solidFill>
              </a:rPr>
              <a:t>Cálculo matemático en tiempo real de la distancia geodésica entre la unidad y la escena.</a:t>
            </a:r>
          </a:p>
          <a:p>
            <a:pPr>
              <a:spcAft>
                <a:spcPts val="600"/>
              </a:spcAft>
              <a:defRPr sz="1000"/>
            </a:pPr>
            <a:r>
              <a:rPr b="1">
                <a:solidFill>
                  <a:srgbClr val="2563EB"/>
                </a:solidFill>
              </a:rPr>
              <a:t>• </a:t>
            </a:r>
            <a:r>
              <a:rPr b="1">
                <a:solidFill>
                  <a:srgbClr val="0F172A"/>
                </a:solidFill>
              </a:rPr>
              <a:t>Estimación de ETA: </a:t>
            </a:r>
            <a:r>
              <a:rPr b="0">
                <a:solidFill>
                  <a:srgbClr val="475569"/>
                </a:solidFill>
              </a:rPr>
              <a:t>Cálculo aproximado del tiempo de arribo basado en distancia kilométrica y velocidad promedio.</a:t>
            </a:r>
          </a:p>
          <a:p>
            <a:pPr>
              <a:spcAft>
                <a:spcPts val="600"/>
              </a:spcAft>
              <a:defRPr sz="1000"/>
            </a:pPr>
            <a:r>
              <a:rPr b="1">
                <a:solidFill>
                  <a:srgbClr val="2563EB"/>
                </a:solidFill>
              </a:rPr>
              <a:t>• </a:t>
            </a:r>
            <a:r>
              <a:rPr b="1">
                <a:solidFill>
                  <a:srgbClr val="0F172A"/>
                </a:solidFill>
              </a:rPr>
              <a:t>Badge 'MÁS CERCANA': </a:t>
            </a:r>
            <a:r>
              <a:rPr b="0">
                <a:solidFill>
                  <a:srgbClr val="475569"/>
                </a:solidFill>
              </a:rPr>
              <a:t>El modal destaca automáticamente a la unidad con menor tiempo de respuesta esperado.</a:t>
            </a:r>
          </a:p>
          <a:p>
            <a:pPr>
              <a:spcAft>
                <a:spcPts val="600"/>
              </a:spcAft>
              <a:defRPr sz="1000"/>
            </a:pPr>
            <a:r>
              <a:rPr b="1">
                <a:solidFill>
                  <a:srgbClr val="2563EB"/>
                </a:solidFill>
              </a:rPr>
              <a:t>• </a:t>
            </a:r>
            <a:r>
              <a:rPr b="1">
                <a:solidFill>
                  <a:srgbClr val="0F172A"/>
                </a:solidFill>
              </a:rPr>
              <a:t>Ficha de Previsualización: </a:t>
            </a:r>
            <a:r>
              <a:rPr b="0">
                <a:solidFill>
                  <a:srgbClr val="475569"/>
                </a:solidFill>
              </a:rPr>
              <a:t>Muestra nombre del oficial al mando, teléfono directo, placa vehicular y estado.</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6A34A"/>
                </a:solidFill>
              </a:defRPr>
            </a:pPr>
            <a:r>
              <a:t>📋 Herramientas de Soporte</a:t>
            </a:r>
          </a:p>
          <a:p>
            <a:pPr>
              <a:spcAft>
                <a:spcPts val="600"/>
              </a:spcAft>
              <a:defRPr sz="1000"/>
            </a:pPr>
            <a:r>
              <a:rPr b="1">
                <a:solidFill>
                  <a:srgbClr val="2563EB"/>
                </a:solidFill>
              </a:rPr>
              <a:t>• </a:t>
            </a:r>
            <a:r>
              <a:rPr b="1">
                <a:solidFill>
                  <a:srgbClr val="0F172A"/>
                </a:solidFill>
              </a:rPr>
              <a:t>Dossier Imprimible: </a:t>
            </a:r>
            <a:r>
              <a:rPr b="0">
                <a:solidFill>
                  <a:srgbClr val="475569"/>
                </a:solidFill>
              </a:rPr>
              <a:t>Generador de expedientes tácticos con formato oficial para exportación directa a PDF.</a:t>
            </a:r>
          </a:p>
          <a:p>
            <a:pPr>
              <a:spcAft>
                <a:spcPts val="600"/>
              </a:spcAft>
              <a:defRPr sz="1000"/>
            </a:pPr>
            <a:r>
              <a:rPr b="1">
                <a:solidFill>
                  <a:srgbClr val="2563EB"/>
                </a:solidFill>
              </a:rPr>
              <a:t>• </a:t>
            </a:r>
            <a:r>
              <a:rPr b="1">
                <a:solidFill>
                  <a:srgbClr val="0F172A"/>
                </a:solidFill>
              </a:rPr>
              <a:t>Web Audio API: </a:t>
            </a:r>
            <a:r>
              <a:rPr b="0">
                <a:solidFill>
                  <a:srgbClr val="475569"/>
                </a:solidFill>
              </a:rPr>
              <a:t>Sintetizador de audio nativo en el navegador que emite alertas sonoras ante llamadas de prioridad 'Alta'.</a:t>
            </a:r>
          </a:p>
          <a:p>
            <a:pPr>
              <a:spcAft>
                <a:spcPts val="600"/>
              </a:spcAft>
              <a:defRPr sz="1000"/>
            </a:pPr>
            <a:r>
              <a:rPr b="1">
                <a:solidFill>
                  <a:srgbClr val="2563EB"/>
                </a:solidFill>
              </a:rPr>
              <a:t>• </a:t>
            </a:r>
            <a:r>
              <a:rPr b="1">
                <a:solidFill>
                  <a:srgbClr val="0F172A"/>
                </a:solidFill>
              </a:rPr>
              <a:t>Radar Táctico Canvas: </a:t>
            </a:r>
            <a:r>
              <a:rPr b="0">
                <a:solidFill>
                  <a:srgbClr val="475569"/>
                </a:solidFill>
              </a:rPr>
              <a:t>Widget visual interactivo que simula el barrido de frecuencias de radio y actividad de unidades.</a:t>
            </a:r>
          </a:p>
          <a:p>
            <a:pPr>
              <a:spcAft>
                <a:spcPts val="600"/>
              </a:spcAft>
              <a:defRPr sz="1000"/>
            </a:pPr>
            <a:r>
              <a:rPr b="1">
                <a:solidFill>
                  <a:srgbClr val="2563EB"/>
                </a:solidFill>
              </a:rPr>
              <a:t>• </a:t>
            </a:r>
            <a:r>
              <a:rPr b="1">
                <a:solidFill>
                  <a:srgbClr val="0F172A"/>
                </a:solidFill>
              </a:rPr>
              <a:t>Panel de Triage: </a:t>
            </a:r>
            <a:r>
              <a:rPr b="0">
                <a:solidFill>
                  <a:srgbClr val="475569"/>
                </a:solidFill>
              </a:rPr>
              <a:t>Listados clasificados con contadores en vivo de llamadas pendientes de validación.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EXPERIENCIA MÓVIL</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Aplicación Móvil: Ciudadanía y Operaciones de Campo</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React Native &amp; Expo: una base de código única adaptada ergonómicamente según el rol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10 / 15</a:t>
            </a:r>
          </a:p>
        </p:txBody>
      </p:sp>
      <p:sp>
        <p:nvSpPr>
          <p:cNvPr id="9" name="Rounded Rectangle 8"/>
          <p:cNvSpPr/>
          <p:nvPr/>
        </p:nvSpPr>
        <p:spPr>
          <a:xfrm>
            <a:off x="73152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0E7490"/>
                </a:solidFill>
              </a:defRPr>
            </a:pPr>
            <a:r>
              <a:t>📱 MODO CIUDADANO (Canal de Auxilio)</a:t>
            </a:r>
          </a:p>
          <a:p>
            <a:pPr>
              <a:spcAft>
                <a:spcPts val="600"/>
              </a:spcAft>
              <a:defRPr sz="1000"/>
            </a:pPr>
            <a:r>
              <a:rPr b="1">
                <a:solidFill>
                  <a:srgbClr val="2563EB"/>
                </a:solidFill>
              </a:rPr>
              <a:t>• </a:t>
            </a:r>
            <a:r>
              <a:rPr b="1">
                <a:solidFill>
                  <a:srgbClr val="0F172A"/>
                </a:solidFill>
              </a:rPr>
              <a:t>Botón de Pánico SOS: </a:t>
            </a:r>
            <a:r>
              <a:rPr b="0">
                <a:solidFill>
                  <a:srgbClr val="475569"/>
                </a:solidFill>
              </a:rPr>
              <a:t>Activación rápida de auxilio en 1 solo toque para situaciones de extrema vulnerabilidad.</a:t>
            </a:r>
          </a:p>
          <a:p>
            <a:pPr>
              <a:spcAft>
                <a:spcPts val="600"/>
              </a:spcAft>
              <a:defRPr sz="1000"/>
            </a:pPr>
            <a:r>
              <a:rPr b="1">
                <a:solidFill>
                  <a:srgbClr val="2563EB"/>
                </a:solidFill>
              </a:rPr>
              <a:t>• </a:t>
            </a:r>
            <a:r>
              <a:rPr b="1">
                <a:solidFill>
                  <a:srgbClr val="0F172A"/>
                </a:solidFill>
              </a:rPr>
              <a:t>Captura GPS Satelital: </a:t>
            </a:r>
            <a:r>
              <a:rPr b="0">
                <a:solidFill>
                  <a:srgbClr val="475569"/>
                </a:solidFill>
              </a:rPr>
              <a:t>Obtención nativa de coordenadas de alta precisión mediante Expo Location sin ingreso manual.</a:t>
            </a:r>
          </a:p>
          <a:p>
            <a:pPr>
              <a:spcAft>
                <a:spcPts val="600"/>
              </a:spcAft>
              <a:defRPr sz="1000"/>
            </a:pPr>
            <a:r>
              <a:rPr b="1">
                <a:solidFill>
                  <a:srgbClr val="2563EB"/>
                </a:solidFill>
              </a:rPr>
              <a:t>• </a:t>
            </a:r>
            <a:r>
              <a:rPr b="1">
                <a:solidFill>
                  <a:srgbClr val="0F172A"/>
                </a:solidFill>
              </a:rPr>
              <a:t>Evidencia Fotográfica: </a:t>
            </a:r>
            <a:r>
              <a:rPr b="0">
                <a:solidFill>
                  <a:srgbClr val="475569"/>
                </a:solidFill>
              </a:rPr>
              <a:t>Uso directo de la cámara del smartphone para enviar fotos del incidente al centro de comando.</a:t>
            </a:r>
          </a:p>
          <a:p>
            <a:pPr>
              <a:spcAft>
                <a:spcPts val="600"/>
              </a:spcAft>
              <a:defRPr sz="1000"/>
            </a:pPr>
            <a:r>
              <a:rPr b="1">
                <a:solidFill>
                  <a:srgbClr val="2563EB"/>
                </a:solidFill>
              </a:rPr>
              <a:t>• </a:t>
            </a:r>
            <a:r>
              <a:rPr b="1">
                <a:solidFill>
                  <a:srgbClr val="0F172A"/>
                </a:solidFill>
              </a:rPr>
              <a:t>Seguimiento Transparente: </a:t>
            </a:r>
            <a:r>
              <a:rPr b="0">
                <a:solidFill>
                  <a:srgbClr val="475569"/>
                </a:solidFill>
              </a:rPr>
              <a:t>Pantalla de 'Mis Reportes' con línea de tiempo en vivo que informa cuando la unidad ha sido despachada.</a:t>
            </a:r>
          </a:p>
          <a:p>
            <a:pPr>
              <a:spcAft>
                <a:spcPts val="600"/>
              </a:spcAft>
              <a:defRPr sz="1000"/>
            </a:pPr>
            <a:r>
              <a:rPr b="1">
                <a:solidFill>
                  <a:srgbClr val="2563EB"/>
                </a:solidFill>
              </a:rPr>
              <a:t>• </a:t>
            </a:r>
            <a:r>
              <a:rPr b="1">
                <a:solidFill>
                  <a:srgbClr val="0F172A"/>
                </a:solidFill>
              </a:rPr>
              <a:t>Autoregistro Ciudadano: </a:t>
            </a:r>
            <a:r>
              <a:rPr b="0">
                <a:solidFill>
                  <a:srgbClr val="475569"/>
                </a:solidFill>
              </a:rPr>
              <a:t>Formulario ágil de bienvenida exclusivo para ciudadanos, respetando la gobernanza institucional.</a:t>
            </a:r>
          </a:p>
        </p:txBody>
      </p:sp>
      <p:sp>
        <p:nvSpPr>
          <p:cNvPr id="10" name="Rounded Rectangle 9"/>
          <p:cNvSpPr/>
          <p:nvPr/>
        </p:nvSpPr>
        <p:spPr>
          <a:xfrm>
            <a:off x="6339535"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1E3A8A"/>
                </a:solidFill>
              </a:defRPr>
            </a:pPr>
            <a:r>
              <a:t>🚨 MODO PERSONAL DE CAMPO (Terminal Táctico)</a:t>
            </a:r>
          </a:p>
          <a:p>
            <a:pPr>
              <a:spcAft>
                <a:spcPts val="600"/>
              </a:spcAft>
              <a:defRPr sz="1000"/>
            </a:pPr>
            <a:r>
              <a:rPr b="1">
                <a:solidFill>
                  <a:srgbClr val="2563EB"/>
                </a:solidFill>
              </a:rPr>
              <a:t>• </a:t>
            </a:r>
            <a:r>
              <a:rPr b="1">
                <a:solidFill>
                  <a:srgbClr val="0F172A"/>
                </a:solidFill>
              </a:rPr>
              <a:t>Badge Oficial de Unidad: </a:t>
            </a:r>
            <a:r>
              <a:rPr b="0">
                <a:solidFill>
                  <a:srgbClr val="475569"/>
                </a:solidFill>
              </a:rPr>
              <a:t>Muestra en pantalla el identificador vehicular asignado (ej. Unidad Oficial [PL-01] • Patrulla Policial).</a:t>
            </a:r>
          </a:p>
          <a:p>
            <a:pPr>
              <a:spcAft>
                <a:spcPts val="600"/>
              </a:spcAft>
              <a:defRPr sz="1000"/>
            </a:pPr>
            <a:r>
              <a:rPr b="1">
                <a:solidFill>
                  <a:srgbClr val="2563EB"/>
                </a:solidFill>
              </a:rPr>
              <a:t>• </a:t>
            </a:r>
            <a:r>
              <a:rPr b="1">
                <a:solidFill>
                  <a:srgbClr val="0F172A"/>
                </a:solidFill>
              </a:rPr>
              <a:t>Misiones Directas Tácticas: </a:t>
            </a:r>
            <a:r>
              <a:rPr b="0">
                <a:solidFill>
                  <a:srgbClr val="475569"/>
                </a:solidFill>
              </a:rPr>
              <a:t>Pestaña 'Mi Unidad' que resalta en rojo las asignaciones directas enviadas por el operador CAD.</a:t>
            </a:r>
          </a:p>
          <a:p>
            <a:pPr>
              <a:spcAft>
                <a:spcPts val="600"/>
              </a:spcAft>
              <a:defRPr sz="1000"/>
            </a:pPr>
            <a:r>
              <a:rPr b="1">
                <a:solidFill>
                  <a:srgbClr val="2563EB"/>
                </a:solidFill>
              </a:rPr>
              <a:t>• </a:t>
            </a:r>
            <a:r>
              <a:rPr b="1">
                <a:solidFill>
                  <a:srgbClr val="0F172A"/>
                </a:solidFill>
              </a:rPr>
              <a:t>Alertas Hápticas &amp; Sonido: </a:t>
            </a:r>
            <a:r>
              <a:rPr b="0">
                <a:solidFill>
                  <a:srgbClr val="475569"/>
                </a:solidFill>
              </a:rPr>
              <a:t>Vibración táctica diferenciada al recibir una nueva asignación para no depender de mirar la pantalla.</a:t>
            </a:r>
          </a:p>
          <a:p>
            <a:pPr>
              <a:spcAft>
                <a:spcPts val="600"/>
              </a:spcAft>
              <a:defRPr sz="1000"/>
            </a:pPr>
            <a:r>
              <a:rPr b="1">
                <a:solidFill>
                  <a:srgbClr val="2563EB"/>
                </a:solidFill>
              </a:rPr>
              <a:t>• </a:t>
            </a:r>
            <a:r>
              <a:rPr b="1">
                <a:solidFill>
                  <a:srgbClr val="0F172A"/>
                </a:solidFill>
              </a:rPr>
              <a:t>Actualización en Escena: </a:t>
            </a:r>
            <a:r>
              <a:rPr b="0">
                <a:solidFill>
                  <a:srgbClr val="475569"/>
                </a:solidFill>
              </a:rPr>
              <a:t>Botones de cambio rápido: 'Confirmar Salida', 'Reportar Arribo en Escena' y 'Resolución Final'.</a:t>
            </a:r>
          </a:p>
          <a:p>
            <a:pPr>
              <a:spcAft>
                <a:spcPts val="600"/>
              </a:spcAft>
              <a:defRPr sz="1000"/>
            </a:pPr>
            <a:r>
              <a:rPr b="1">
                <a:solidFill>
                  <a:srgbClr val="2563EB"/>
                </a:solidFill>
              </a:rPr>
              <a:t>• </a:t>
            </a:r>
            <a:r>
              <a:rPr b="1">
                <a:solidFill>
                  <a:srgbClr val="0F172A"/>
                </a:solidFill>
              </a:rPr>
              <a:t>Resiliencia de Red: </a:t>
            </a:r>
            <a:r>
              <a:rPr b="0">
                <a:solidFill>
                  <a:srgbClr val="475569"/>
                </a:solidFill>
              </a:rPr>
              <a:t>Mecanismo de sondeo reactivo continuo que actualiza misiones aun en zonas de baja cobertura celular.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SEGURIDAD Y AUDITORÍA</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Trazabilidad Forense y Cadena de Custodia (RNF-09)</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Registro inmutable con rigor probatorio para investigaciones judiciales y de control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11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E3A8A"/>
                </a:solidFill>
              </a:defRPr>
            </a:pPr>
            <a:r>
              <a:t>📜 Bitácora Inmutable (LogAuditoria)</a:t>
            </a:r>
          </a:p>
          <a:p>
            <a:pPr>
              <a:spcAft>
                <a:spcPts val="600"/>
              </a:spcAft>
              <a:defRPr sz="1000"/>
            </a:pPr>
            <a:r>
              <a:rPr b="1">
                <a:solidFill>
                  <a:srgbClr val="2563EB"/>
                </a:solidFill>
              </a:rPr>
              <a:t>• </a:t>
            </a:r>
            <a:r>
              <a:rPr b="1">
                <a:solidFill>
                  <a:srgbClr val="0F172A"/>
                </a:solidFill>
              </a:rPr>
              <a:t>Captura Automática: </a:t>
            </a:r>
            <a:r>
              <a:rPr b="0">
                <a:solidFill>
                  <a:srgbClr val="475569"/>
                </a:solidFill>
              </a:rPr>
              <a:t>Cada transición de estado, edición o asignación dispara un registro en la tabla LogAuditoria.</a:t>
            </a:r>
          </a:p>
          <a:p>
            <a:pPr>
              <a:spcAft>
                <a:spcPts val="600"/>
              </a:spcAft>
              <a:defRPr sz="1000"/>
            </a:pPr>
            <a:r>
              <a:rPr b="1">
                <a:solidFill>
                  <a:srgbClr val="2563EB"/>
                </a:solidFill>
              </a:rPr>
              <a:t>• </a:t>
            </a:r>
            <a:r>
              <a:rPr b="1">
                <a:solidFill>
                  <a:srgbClr val="0F172A"/>
                </a:solidFill>
              </a:rPr>
              <a:t>Metadatos Forenses: </a:t>
            </a:r>
            <a:r>
              <a:rPr b="0">
                <a:solidFill>
                  <a:srgbClr val="475569"/>
                </a:solidFill>
              </a:rPr>
              <a:t>Almacena ID del usuario autor, rol operativo, dirección IP de origen y marca de tiempo ISO 8601.</a:t>
            </a:r>
          </a:p>
          <a:p>
            <a:pPr>
              <a:spcAft>
                <a:spcPts val="600"/>
              </a:spcAft>
              <a:defRPr sz="1000"/>
            </a:pPr>
            <a:r>
              <a:rPr b="1">
                <a:solidFill>
                  <a:srgbClr val="2563EB"/>
                </a:solidFill>
              </a:rPr>
              <a:t>• </a:t>
            </a:r>
            <a:r>
              <a:rPr b="1">
                <a:solidFill>
                  <a:srgbClr val="0F172A"/>
                </a:solidFill>
              </a:rPr>
              <a:t>Valores Previos y Nuevos: </a:t>
            </a:r>
            <a:r>
              <a:rPr b="0">
                <a:solidFill>
                  <a:srgbClr val="475569"/>
                </a:solidFill>
              </a:rPr>
              <a:t>Guarda el diff exacto de los datos antes y después de cada cambio en formato JSON estructurado.</a:t>
            </a:r>
          </a:p>
          <a:p>
            <a:pPr>
              <a:spcAft>
                <a:spcPts val="600"/>
              </a:spcAft>
              <a:defRPr sz="1000"/>
            </a:pPr>
            <a:r>
              <a:rPr b="1">
                <a:solidFill>
                  <a:srgbClr val="2563EB"/>
                </a:solidFill>
              </a:rPr>
              <a:t>• </a:t>
            </a:r>
            <a:r>
              <a:rPr b="1">
                <a:solidFill>
                  <a:srgbClr val="0F172A"/>
                </a:solidFill>
              </a:rPr>
              <a:t>Inmutabilidad: </a:t>
            </a:r>
            <a:r>
              <a:rPr b="0">
                <a:solidFill>
                  <a:srgbClr val="475569"/>
                </a:solidFill>
              </a:rPr>
              <a:t>Registros protegidos contra borrado (append-only) para asegurar la integridad judicial.</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DC2626"/>
                </a:solidFill>
              </a:defRPr>
            </a:pPr>
            <a:r>
              <a:t>🛡️ Seguridad y Control de Acceso</a:t>
            </a:r>
          </a:p>
          <a:p>
            <a:pPr>
              <a:spcAft>
                <a:spcPts val="600"/>
              </a:spcAft>
              <a:defRPr sz="1000"/>
            </a:pPr>
            <a:r>
              <a:rPr b="1">
                <a:solidFill>
                  <a:srgbClr val="2563EB"/>
                </a:solidFill>
              </a:rPr>
              <a:t>• </a:t>
            </a:r>
            <a:r>
              <a:rPr b="1">
                <a:solidFill>
                  <a:srgbClr val="0F172A"/>
                </a:solidFill>
              </a:rPr>
              <a:t>Cifrado de Credenciales: </a:t>
            </a:r>
            <a:r>
              <a:rPr b="0">
                <a:solidFill>
                  <a:srgbClr val="475569"/>
                </a:solidFill>
              </a:rPr>
              <a:t>Contraseñas protegidas mediante algoritmo bcrypt con factor de coste 10.</a:t>
            </a:r>
          </a:p>
          <a:p>
            <a:pPr>
              <a:spcAft>
                <a:spcPts val="600"/>
              </a:spcAft>
              <a:defRPr sz="1000"/>
            </a:pPr>
            <a:r>
              <a:rPr b="1">
                <a:solidFill>
                  <a:srgbClr val="2563EB"/>
                </a:solidFill>
              </a:rPr>
              <a:t>• </a:t>
            </a:r>
            <a:r>
              <a:rPr b="1">
                <a:solidFill>
                  <a:srgbClr val="0F172A"/>
                </a:solidFill>
              </a:rPr>
              <a:t>Protección de Secretos: </a:t>
            </a:r>
            <a:r>
              <a:rPr b="0">
                <a:solidFill>
                  <a:srgbClr val="475569"/>
                </a:solidFill>
              </a:rPr>
              <a:t>Variables de entorno (.env) aisladas y excluidas rigurosamente de repositorios mediante .gitignore.</a:t>
            </a:r>
          </a:p>
          <a:p>
            <a:pPr>
              <a:spcAft>
                <a:spcPts val="600"/>
              </a:spcAft>
              <a:defRPr sz="1000"/>
            </a:pPr>
            <a:r>
              <a:rPr b="1">
                <a:solidFill>
                  <a:srgbClr val="2563EB"/>
                </a:solidFill>
              </a:rPr>
              <a:t>• </a:t>
            </a:r>
            <a:r>
              <a:rPr b="1">
                <a:solidFill>
                  <a:srgbClr val="0F172A"/>
                </a:solidFill>
              </a:rPr>
              <a:t>Tokens Criptográficos: </a:t>
            </a:r>
            <a:r>
              <a:rPr b="0">
                <a:solidFill>
                  <a:srgbClr val="475569"/>
                </a:solidFill>
              </a:rPr>
              <a:t>Firmas HMAC SHA-256 en JSON Web Tokens con tiempo de expiración controlado.</a:t>
            </a:r>
          </a:p>
          <a:p>
            <a:pPr>
              <a:spcAft>
                <a:spcPts val="600"/>
              </a:spcAft>
              <a:defRPr sz="1000"/>
            </a:pPr>
            <a:r>
              <a:rPr b="1">
                <a:solidFill>
                  <a:srgbClr val="2563EB"/>
                </a:solidFill>
              </a:rPr>
              <a:t>• </a:t>
            </a:r>
            <a:r>
              <a:rPr b="1">
                <a:solidFill>
                  <a:srgbClr val="0F172A"/>
                </a:solidFill>
              </a:rPr>
              <a:t>Defensa en Profundidad: </a:t>
            </a:r>
            <a:r>
              <a:rPr b="0">
                <a:solidFill>
                  <a:srgbClr val="475569"/>
                </a:solidFill>
              </a:rPr>
              <a:t>Validaciones en capa de cliente, middleware de Express y restricciones de base de datos.</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6A34A"/>
                </a:solidFill>
              </a:defRPr>
            </a:pPr>
            <a:r>
              <a:t>⚖️ Valor Probatorio y Cumplimiento</a:t>
            </a:r>
          </a:p>
          <a:p>
            <a:pPr>
              <a:spcAft>
                <a:spcPts val="600"/>
              </a:spcAft>
              <a:defRPr sz="1000"/>
            </a:pPr>
            <a:r>
              <a:rPr b="1">
                <a:solidFill>
                  <a:srgbClr val="2563EB"/>
                </a:solidFill>
              </a:rPr>
              <a:t>• </a:t>
            </a:r>
            <a:r>
              <a:rPr b="1">
                <a:solidFill>
                  <a:srgbClr val="0F172A"/>
                </a:solidFill>
              </a:rPr>
              <a:t>Cadena de Custodia: </a:t>
            </a:r>
            <a:r>
              <a:rPr b="0">
                <a:solidFill>
                  <a:srgbClr val="475569"/>
                </a:solidFill>
              </a:rPr>
              <a:t>Garantía de que las fotografías y declaraciones ciudadanas no fueron alteradas en el trayecto.</a:t>
            </a:r>
          </a:p>
          <a:p>
            <a:pPr>
              <a:spcAft>
                <a:spcPts val="600"/>
              </a:spcAft>
              <a:defRPr sz="1000"/>
            </a:pPr>
            <a:r>
              <a:rPr b="1">
                <a:solidFill>
                  <a:srgbClr val="2563EB"/>
                </a:solidFill>
              </a:rPr>
              <a:t>• </a:t>
            </a:r>
            <a:r>
              <a:rPr b="1">
                <a:solidFill>
                  <a:srgbClr val="0F172A"/>
                </a:solidFill>
              </a:rPr>
              <a:t>Investigación de Tiempos: </a:t>
            </a:r>
            <a:r>
              <a:rPr b="0">
                <a:solidFill>
                  <a:srgbClr val="475569"/>
                </a:solidFill>
              </a:rPr>
              <a:t>Permite a las entidades de control auditar exactamente cuánto tardó la patrulla en llegar.</a:t>
            </a:r>
          </a:p>
          <a:p>
            <a:pPr>
              <a:spcAft>
                <a:spcPts val="600"/>
              </a:spcAft>
              <a:defRPr sz="1000"/>
            </a:pPr>
            <a:r>
              <a:rPr b="1">
                <a:solidFill>
                  <a:srgbClr val="2563EB"/>
                </a:solidFill>
              </a:rPr>
              <a:t>• </a:t>
            </a:r>
            <a:r>
              <a:rPr b="1">
                <a:solidFill>
                  <a:srgbClr val="0F172A"/>
                </a:solidFill>
              </a:rPr>
              <a:t>Responsabilidad Institucional: </a:t>
            </a:r>
            <a:r>
              <a:rPr b="0">
                <a:solidFill>
                  <a:srgbClr val="475569"/>
                </a:solidFill>
              </a:rPr>
              <a:t>Identifica con precisión qué operador autorizó cada despacho y en qué segundo exacto.</a:t>
            </a:r>
          </a:p>
          <a:p>
            <a:pPr>
              <a:spcAft>
                <a:spcPts val="600"/>
              </a:spcAft>
              <a:defRPr sz="1000"/>
            </a:pPr>
            <a:r>
              <a:rPr b="1">
                <a:solidFill>
                  <a:srgbClr val="2563EB"/>
                </a:solidFill>
              </a:rPr>
              <a:t>• </a:t>
            </a:r>
            <a:r>
              <a:rPr b="1">
                <a:solidFill>
                  <a:srgbClr val="0F172A"/>
                </a:solidFill>
              </a:rPr>
              <a:t>Exportación Oficial: </a:t>
            </a:r>
            <a:r>
              <a:rPr b="0">
                <a:solidFill>
                  <a:srgbClr val="475569"/>
                </a:solidFill>
              </a:rPr>
              <a:t>Reportes listos para auditorías externas de fiscalía, alcaldía o secretarías de seguridad.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DEVOPS Y OPERACIONES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Automatización de Despliegue en 1 Clic y Control de Versiones</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Herramientas de ingeniería para puesta en marcha inmediata y reproducibilidad total</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12 / 15</a:t>
            </a:r>
          </a:p>
        </p:txBody>
      </p:sp>
      <p:sp>
        <p:nvSpPr>
          <p:cNvPr id="9" name="Rounded Rectangle 8"/>
          <p:cNvSpPr/>
          <p:nvPr/>
        </p:nvSpPr>
        <p:spPr>
          <a:xfrm>
            <a:off x="731520"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2563EB"/>
                </a:solidFill>
              </a:defRPr>
            </a:pPr>
            <a:r>
              <a:t>🚀 Orquestación en 1 Clic (.bat / .ps1)</a:t>
            </a:r>
          </a:p>
          <a:p>
            <a:pPr>
              <a:spcAft>
                <a:spcPts val="600"/>
              </a:spcAft>
              <a:defRPr sz="1000"/>
            </a:pPr>
            <a:r>
              <a:rPr b="1">
                <a:solidFill>
                  <a:srgbClr val="2563EB"/>
                </a:solidFill>
              </a:rPr>
              <a:t>• </a:t>
            </a:r>
            <a:r>
              <a:rPr b="1">
                <a:solidFill>
                  <a:srgbClr val="0F172A"/>
                </a:solidFill>
              </a:rPr>
              <a:t>iniciar-sigem.bat / .ps1: </a:t>
            </a:r>
            <a:r>
              <a:rPr b="0">
                <a:solidFill>
                  <a:srgbClr val="475569"/>
                </a:solidFill>
              </a:rPr>
              <a:t>Script unificado que comprueba el entorno Node.js y arranca la plataforma completa.</a:t>
            </a:r>
          </a:p>
          <a:p>
            <a:pPr>
              <a:spcAft>
                <a:spcPts val="600"/>
              </a:spcAft>
              <a:defRPr sz="1000"/>
            </a:pPr>
            <a:r>
              <a:rPr b="1">
                <a:solidFill>
                  <a:srgbClr val="2563EB"/>
                </a:solidFill>
              </a:rPr>
              <a:t>• </a:t>
            </a:r>
            <a:r>
              <a:rPr b="1">
                <a:solidFill>
                  <a:srgbClr val="0F172A"/>
                </a:solidFill>
              </a:rPr>
              <a:t>Liberación de Puertos: </a:t>
            </a:r>
            <a:r>
              <a:rPr b="0">
                <a:solidFill>
                  <a:srgbClr val="475569"/>
                </a:solidFill>
              </a:rPr>
              <a:t>Mata preventivamente procesos bloqueantes en los puertos críticos (3005 backend, 3002 web, 8081 expo).</a:t>
            </a:r>
          </a:p>
          <a:p>
            <a:pPr>
              <a:spcAft>
                <a:spcPts val="600"/>
              </a:spcAft>
              <a:defRPr sz="1000"/>
            </a:pPr>
            <a:r>
              <a:rPr b="1">
                <a:solidFill>
                  <a:srgbClr val="2563EB"/>
                </a:solidFill>
              </a:rPr>
              <a:t>• </a:t>
            </a:r>
            <a:r>
              <a:rPr b="1">
                <a:solidFill>
                  <a:srgbClr val="0F172A"/>
                </a:solidFill>
              </a:rPr>
              <a:t>Terminales Paralelas: </a:t>
            </a:r>
            <a:r>
              <a:rPr b="0">
                <a:solidFill>
                  <a:srgbClr val="475569"/>
                </a:solidFill>
              </a:rPr>
              <a:t>Abre tres consolas etiquetadas para monitoreo independiente de logs de cada subsistema.</a:t>
            </a:r>
          </a:p>
          <a:p>
            <a:pPr>
              <a:spcAft>
                <a:spcPts val="600"/>
              </a:spcAft>
              <a:defRPr sz="1000"/>
            </a:pPr>
            <a:r>
              <a:rPr b="1">
                <a:solidFill>
                  <a:srgbClr val="2563EB"/>
                </a:solidFill>
              </a:rPr>
              <a:t>• </a:t>
            </a:r>
            <a:r>
              <a:rPr b="1">
                <a:solidFill>
                  <a:srgbClr val="0F172A"/>
                </a:solidFill>
              </a:rPr>
              <a:t>Apertura Automática: </a:t>
            </a:r>
            <a:r>
              <a:rPr b="0">
                <a:solidFill>
                  <a:srgbClr val="475569"/>
                </a:solidFill>
              </a:rPr>
              <a:t>Lanza el navegador por defecto directamente en la pantalla de inicio de sesión CAD.</a:t>
            </a:r>
          </a:p>
          <a:p>
            <a:pPr>
              <a:spcAft>
                <a:spcPts val="600"/>
              </a:spcAft>
              <a:defRPr sz="1000"/>
            </a:pPr>
            <a:r>
              <a:rPr b="1">
                <a:solidFill>
                  <a:srgbClr val="2563EB"/>
                </a:solidFill>
              </a:rPr>
              <a:t>• </a:t>
            </a:r>
            <a:r>
              <a:rPr b="1">
                <a:solidFill>
                  <a:srgbClr val="0F172A"/>
                </a:solidFill>
              </a:rPr>
              <a:t>detener-sigem.bat: </a:t>
            </a:r>
            <a:r>
              <a:rPr b="0">
                <a:solidFill>
                  <a:srgbClr val="475569"/>
                </a:solidFill>
              </a:rPr>
              <a:t>Script de apagado ordenado que libera toda la memoria y cierra servicios en segundo plano.</a:t>
            </a:r>
          </a:p>
        </p:txBody>
      </p:sp>
      <p:sp>
        <p:nvSpPr>
          <p:cNvPr id="10" name="Rounded Rectangle 9"/>
          <p:cNvSpPr/>
          <p:nvPr/>
        </p:nvSpPr>
        <p:spPr>
          <a:xfrm>
            <a:off x="4425696"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E3A8A"/>
                </a:solidFill>
              </a:defRPr>
            </a:pPr>
            <a:r>
              <a:t>📑 Documentación y Calidad</a:t>
            </a:r>
          </a:p>
          <a:p>
            <a:pPr>
              <a:spcAft>
                <a:spcPts val="600"/>
              </a:spcAft>
              <a:defRPr sz="1000"/>
            </a:pPr>
            <a:r>
              <a:rPr b="1">
                <a:solidFill>
                  <a:srgbClr val="2563EB"/>
                </a:solidFill>
              </a:rPr>
              <a:t>• </a:t>
            </a:r>
            <a:r>
              <a:rPr b="1">
                <a:solidFill>
                  <a:srgbClr val="0F172A"/>
                </a:solidFill>
              </a:rPr>
              <a:t>Manual Técnico en PDF: </a:t>
            </a:r>
            <a:r>
              <a:rPr b="0">
                <a:solidFill>
                  <a:srgbClr val="475569"/>
                </a:solidFill>
              </a:rPr>
              <a:t>Documento de 14 capítulos y grado institucional listo para impresión en formato A4 (MANUAL_TECNICO_Y_ARQUITECTURA_SIGEM.pdf).</a:t>
            </a:r>
          </a:p>
          <a:p>
            <a:pPr>
              <a:spcAft>
                <a:spcPts val="600"/>
              </a:spcAft>
              <a:defRPr sz="1000"/>
            </a:pPr>
            <a:r>
              <a:rPr b="1">
                <a:solidFill>
                  <a:srgbClr val="2563EB"/>
                </a:solidFill>
              </a:rPr>
              <a:t>• </a:t>
            </a:r>
            <a:r>
              <a:rPr b="1">
                <a:solidFill>
                  <a:srgbClr val="0F172A"/>
                </a:solidFill>
              </a:rPr>
              <a:t>Cero Errores TypeScript: </a:t>
            </a:r>
            <a:r>
              <a:rPr b="0">
                <a:solidFill>
                  <a:srgbClr val="475569"/>
                </a:solidFill>
              </a:rPr>
              <a:t>Compilación estricta y limpia verificada con 'tsc --noEmit' en backend, web y mobile.</a:t>
            </a:r>
          </a:p>
          <a:p>
            <a:pPr>
              <a:spcAft>
                <a:spcPts val="600"/>
              </a:spcAft>
              <a:defRPr sz="1000"/>
            </a:pPr>
            <a:r>
              <a:rPr b="1">
                <a:solidFill>
                  <a:srgbClr val="2563EB"/>
                </a:solidFill>
              </a:rPr>
              <a:t>• </a:t>
            </a:r>
            <a:r>
              <a:rPr b="1">
                <a:solidFill>
                  <a:srgbClr val="0F172A"/>
                </a:solidFill>
              </a:rPr>
              <a:t>Tipado Exhaustivo: </a:t>
            </a:r>
            <a:r>
              <a:rPr b="0">
                <a:solidFill>
                  <a:srgbClr val="475569"/>
                </a:solidFill>
              </a:rPr>
              <a:t>Contratos de interfaz compartidos entre cliente y servidor eliminando bugs de tiempo de ejecución.</a:t>
            </a:r>
          </a:p>
        </p:txBody>
      </p:sp>
      <p:sp>
        <p:nvSpPr>
          <p:cNvPr id="11" name="Rounded Rectangle 10"/>
          <p:cNvSpPr/>
          <p:nvPr/>
        </p:nvSpPr>
        <p:spPr>
          <a:xfrm>
            <a:off x="8119872" y="1737360"/>
            <a:ext cx="3328416"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00">
                <a:solidFill>
                  <a:srgbClr val="16A34A"/>
                </a:solidFill>
              </a:defRPr>
            </a:pPr>
            <a:r>
              <a:t>🐙 GitOps y Repositorio Oficial</a:t>
            </a:r>
          </a:p>
          <a:p>
            <a:pPr>
              <a:spcAft>
                <a:spcPts val="600"/>
              </a:spcAft>
              <a:defRPr sz="1000"/>
            </a:pPr>
            <a:r>
              <a:rPr b="1">
                <a:solidFill>
                  <a:srgbClr val="2563EB"/>
                </a:solidFill>
              </a:rPr>
              <a:t>• </a:t>
            </a:r>
            <a:r>
              <a:rPr b="1">
                <a:solidFill>
                  <a:srgbClr val="0F172A"/>
                </a:solidFill>
              </a:rPr>
              <a:t>GitHub Sincronizado: </a:t>
            </a:r>
            <a:r>
              <a:rPr b="0">
                <a:solidFill>
                  <a:srgbClr val="475569"/>
                </a:solidFill>
              </a:rPr>
              <a:t>Repositorio público versionado con historial semántico de cambios (dilson123S/P.I-de-Gestion-y-Cordinacion-de-Emergencia).</a:t>
            </a:r>
          </a:p>
          <a:p>
            <a:pPr>
              <a:spcAft>
                <a:spcPts val="600"/>
              </a:spcAft>
              <a:defRPr sz="1000"/>
            </a:pPr>
            <a:r>
              <a:rPr b="1">
                <a:solidFill>
                  <a:srgbClr val="2563EB"/>
                </a:solidFill>
              </a:rPr>
              <a:t>• </a:t>
            </a:r>
            <a:r>
              <a:rPr b="1">
                <a:solidFill>
                  <a:srgbClr val="0F172A"/>
                </a:solidFill>
              </a:rPr>
              <a:t>Commits Semánticos: </a:t>
            </a:r>
            <a:r>
              <a:rPr b="0">
                <a:solidFill>
                  <a:srgbClr val="475569"/>
                </a:solidFill>
              </a:rPr>
              <a:t>Historial estandarizado (feat, fix, docs, refactor) conforme a Conventional Commits.</a:t>
            </a:r>
          </a:p>
          <a:p>
            <a:pPr>
              <a:spcAft>
                <a:spcPts val="600"/>
              </a:spcAft>
              <a:defRPr sz="1000"/>
            </a:pPr>
            <a:r>
              <a:rPr b="1">
                <a:solidFill>
                  <a:srgbClr val="2563EB"/>
                </a:solidFill>
              </a:rPr>
              <a:t>• </a:t>
            </a:r>
            <a:r>
              <a:rPr b="1">
                <a:solidFill>
                  <a:srgbClr val="0F172A"/>
                </a:solidFill>
              </a:rPr>
              <a:t>Aislamiento de Secretos: </a:t>
            </a:r>
            <a:r>
              <a:rPr b="0">
                <a:solidFill>
                  <a:srgbClr val="475569"/>
                </a:solidFill>
              </a:rPr>
              <a:t>Verificación rigurosa de .gitignore impidiendo la filtración accidental de tokens o credenciales.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RESULTADOS Y MÉTRICAS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Impacto Cuantificable en la Operación de Emergencias</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Comparativa de eficiencia entre el modelo tradicional 123 y la plataforma SIGEM</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13 / 15</a:t>
            </a:r>
          </a:p>
        </p:txBody>
      </p:sp>
      <p:sp>
        <p:nvSpPr>
          <p:cNvPr id="9" name="Rounded Rectangle 8"/>
          <p:cNvSpPr/>
          <p:nvPr/>
        </p:nvSpPr>
        <p:spPr>
          <a:xfrm>
            <a:off x="731520" y="1737360"/>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b="1" sz="2800">
                <a:solidFill>
                  <a:srgbClr val="16A34A"/>
                </a:solidFill>
              </a:defRPr>
            </a:pPr>
            <a:r>
              <a:t>⏱️ -65%</a:t>
            </a:r>
          </a:p>
          <a:p>
            <a:pPr>
              <a:spcAft>
                <a:spcPts val="400"/>
              </a:spcAft>
              <a:defRPr b="1" sz="1100">
                <a:solidFill>
                  <a:srgbClr val="0F172A"/>
                </a:solidFill>
              </a:defRPr>
            </a:pPr>
            <a:r>
              <a:t>Reducción en Tiempo de Despacho</a:t>
            </a:r>
          </a:p>
          <a:p>
            <a:pPr>
              <a:defRPr sz="950">
                <a:solidFill>
                  <a:srgbClr val="475569"/>
                </a:solidFill>
              </a:defRPr>
            </a:pPr>
            <a:r>
              <a:t>El tiempo medio transcurrido entre la recepción de la llamada y la salida de la patrulla desciende de 8.5 minutos a menos de 2.5 minutos gracias a la telemetría y a la fusión en el Operador Integral.</a:t>
            </a:r>
          </a:p>
        </p:txBody>
      </p:sp>
      <p:sp>
        <p:nvSpPr>
          <p:cNvPr id="10" name="Rounded Rectangle 9"/>
          <p:cNvSpPr/>
          <p:nvPr/>
        </p:nvSpPr>
        <p:spPr>
          <a:xfrm>
            <a:off x="6217920" y="1737360"/>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b="1" sz="2800">
                <a:solidFill>
                  <a:srgbClr val="1E3A8A"/>
                </a:solidFill>
              </a:defRPr>
            </a:pPr>
            <a:r>
              <a:t>🎯 100%</a:t>
            </a:r>
          </a:p>
          <a:p>
            <a:pPr>
              <a:spcAft>
                <a:spcPts val="400"/>
              </a:spcAft>
              <a:defRPr b="1" sz="1100">
                <a:solidFill>
                  <a:srgbClr val="0F172A"/>
                </a:solidFill>
              </a:defRPr>
            </a:pPr>
            <a:r>
              <a:t>Registro Único Sin Re-digitación</a:t>
            </a:r>
          </a:p>
          <a:p>
            <a:pPr>
              <a:defRPr sz="950">
                <a:solidFill>
                  <a:srgbClr val="475569"/>
                </a:solidFill>
              </a:defRPr>
            </a:pPr>
            <a:r>
              <a:t>Cero pérdida de información o distorsión verbal. El 100% de los datos capturados por el ciudadano fluyen íntegros e inmutables hacia el despacho y la unidad de campo.</a:t>
            </a:r>
          </a:p>
        </p:txBody>
      </p:sp>
      <p:sp>
        <p:nvSpPr>
          <p:cNvPr id="11" name="Rounded Rectangle 10"/>
          <p:cNvSpPr/>
          <p:nvPr/>
        </p:nvSpPr>
        <p:spPr>
          <a:xfrm>
            <a:off x="731520" y="3977639"/>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b="1" sz="2800">
                <a:solidFill>
                  <a:srgbClr val="0E7490"/>
                </a:solidFill>
              </a:defRPr>
            </a:pPr>
            <a:r>
              <a:t>📍 Submétrica</a:t>
            </a:r>
          </a:p>
          <a:p>
            <a:pPr>
              <a:spcAft>
                <a:spcPts val="400"/>
              </a:spcAft>
              <a:defRPr b="1" sz="1100">
                <a:solidFill>
                  <a:srgbClr val="0F172A"/>
                </a:solidFill>
              </a:defRPr>
            </a:pPr>
            <a:r>
              <a:t>Precisión en Localización GPS</a:t>
            </a:r>
          </a:p>
          <a:p>
            <a:pPr>
              <a:defRPr sz="950">
                <a:solidFill>
                  <a:srgbClr val="475569"/>
                </a:solidFill>
              </a:defRPr>
            </a:pPr>
            <a:r>
              <a:t>La captura satelital directa elimina el 90% de las confusiones por nomenclatura vial ambigua, direcciones inexactas o falta de conocimiento del barrio por parte del ciudadano.</a:t>
            </a:r>
          </a:p>
        </p:txBody>
      </p:sp>
      <p:sp>
        <p:nvSpPr>
          <p:cNvPr id="12" name="Rounded Rectangle 11"/>
          <p:cNvSpPr/>
          <p:nvPr/>
        </p:nvSpPr>
        <p:spPr>
          <a:xfrm>
            <a:off x="6217920" y="3977639"/>
            <a:ext cx="512064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b="1" sz="2800">
                <a:solidFill>
                  <a:srgbClr val="D97706"/>
                </a:solidFill>
              </a:defRPr>
            </a:pPr>
            <a:r>
              <a:t>🛡️ 100%</a:t>
            </a:r>
          </a:p>
          <a:p>
            <a:pPr>
              <a:spcAft>
                <a:spcPts val="400"/>
              </a:spcAft>
              <a:defRPr b="1" sz="1100">
                <a:solidFill>
                  <a:srgbClr val="0F172A"/>
                </a:solidFill>
              </a:defRPr>
            </a:pPr>
            <a:r>
              <a:t>Trazabilidad y Auditoría Forense</a:t>
            </a:r>
          </a:p>
          <a:p>
            <a:pPr>
              <a:defRPr sz="950">
                <a:solidFill>
                  <a:srgbClr val="475569"/>
                </a:solidFill>
              </a:defRPr>
            </a:pPr>
            <a:r>
              <a:t>Todas las decisiones, despachos y tiempos de llegada quedan sellados digitalmente con validez legal, eliminando la incertidumbre en revisiones judiciales o quejas ciudadanas.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b="1" sz="1000">
                <a:solidFill>
                  <a:srgbClr val="0E7490"/>
                </a:solidFill>
              </a:defRPr>
            </a:pPr>
            <a:r>
              <a:t>CONCLUSIONES Y FUTURO</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b="1" sz="2200">
                <a:solidFill>
                  <a:srgbClr val="0F172A"/>
                </a:solidFill>
              </a:defRPr>
            </a:pPr>
            <a:r>
              <a:t>Conclusiones del Proyecto y Roadmap de Evolución</a:t>
            </a:r>
          </a:p>
        </p:txBody>
      </p:sp>
      <p:sp>
        <p:nvSpPr>
          <p:cNvPr id="5" name="TextBox 4"/>
          <p:cNvSpPr txBox="1"/>
          <p:nvPr/>
        </p:nvSpPr>
        <p:spPr>
          <a:xfrm>
            <a:off x="731520" y="1234440"/>
            <a:ext cx="10698480" cy="411480"/>
          </a:xfrm>
          <a:prstGeom prst="rect">
            <a:avLst/>
          </a:prstGeom>
          <a:noFill/>
        </p:spPr>
        <p:txBody>
          <a:bodyPr wrap="square" lIns="0" tIns="0" rIns="0" bIns="0">
            <a:spAutoFit/>
          </a:bodyPr>
          <a:lstStyle/>
          <a:p>
            <a:pPr>
              <a:defRPr sz="1200">
                <a:solidFill>
                  <a:srgbClr val="475569"/>
                </a:solidFill>
              </a:defRPr>
            </a:pPr>
            <a:r>
              <a:t>Consolidación de objetivos y visión hacia una plataforma de Ciudad Inteligente</a:t>
            </a:r>
          </a:p>
        </p:txBody>
      </p:sp>
      <p:sp>
        <p:nvSpPr>
          <p:cNvPr id="6" name="Rectangle 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355080"/>
            <a:ext cx="7315200" cy="274320"/>
          </a:xfrm>
          <a:prstGeom prst="rect">
            <a:avLst/>
          </a:prstGeom>
          <a:noFill/>
        </p:spPr>
        <p:txBody>
          <a:bodyPr wrap="none" lIns="0" tIns="0" rIns="0" bIns="0">
            <a:spAutoFit/>
          </a:bodyPr>
          <a:lstStyle/>
          <a:p>
            <a:pPr>
              <a:defRPr sz="900">
                <a:solidFill>
                  <a:srgbClr val="475569"/>
                </a:solidFill>
              </a:defRPr>
            </a:pPr>
            <a:r>
              <a:t>SIGEM • Sistema Integral de Gestión y Coordinación de Emergencias</a:t>
            </a:r>
          </a:p>
        </p:txBody>
      </p:sp>
      <p:sp>
        <p:nvSpPr>
          <p:cNvPr id="8" name="TextBox 7"/>
          <p:cNvSpPr txBox="1"/>
          <p:nvPr/>
        </p:nvSpPr>
        <p:spPr>
          <a:xfrm>
            <a:off x="8716975" y="6355080"/>
            <a:ext cx="2743200" cy="274320"/>
          </a:xfrm>
          <a:prstGeom prst="rect">
            <a:avLst/>
          </a:prstGeom>
          <a:noFill/>
        </p:spPr>
        <p:txBody>
          <a:bodyPr wrap="none" lIns="0" tIns="0" rIns="0" bIns="0">
            <a:spAutoFit/>
          </a:bodyPr>
          <a:lstStyle/>
          <a:p>
            <a:pPr algn="r">
              <a:defRPr b="1" sz="900">
                <a:solidFill>
                  <a:srgbClr val="2563EB"/>
                </a:solidFill>
              </a:defRPr>
            </a:pPr>
            <a:r>
              <a:t>14 / 15</a:t>
            </a:r>
          </a:p>
        </p:txBody>
      </p:sp>
      <p:sp>
        <p:nvSpPr>
          <p:cNvPr id="9" name="Rounded Rectangle 8"/>
          <p:cNvSpPr/>
          <p:nvPr/>
        </p:nvSpPr>
        <p:spPr>
          <a:xfrm>
            <a:off x="73152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1E3A8A"/>
                </a:solidFill>
              </a:defRPr>
            </a:pPr>
            <a:r>
              <a:t>🎓 Conclusiones Principales</a:t>
            </a:r>
          </a:p>
          <a:p>
            <a:pPr>
              <a:spcAft>
                <a:spcPts val="600"/>
              </a:spcAft>
              <a:defRPr sz="1000"/>
            </a:pPr>
            <a:r>
              <a:rPr b="1">
                <a:solidFill>
                  <a:srgbClr val="2563EB"/>
                </a:solidFill>
              </a:rPr>
              <a:t>✓ </a:t>
            </a:r>
            <a:r>
              <a:rPr b="1">
                <a:solidFill>
                  <a:srgbClr val="0F172A"/>
                </a:solidFill>
              </a:rPr>
              <a:t>Arquitectura Institucional: </a:t>
            </a:r>
            <a:r>
              <a:rPr b="0">
                <a:solidFill>
                  <a:srgbClr val="475569"/>
                </a:solidFill>
              </a:rPr>
              <a:t>Se logró un sistema desacoplado, robusto y tolerante a fallos, preparado para operar en escenarios de alta exigencia ciudadana.</a:t>
            </a:r>
          </a:p>
          <a:p>
            <a:pPr>
              <a:spcAft>
                <a:spcPts val="600"/>
              </a:spcAft>
              <a:defRPr sz="1000"/>
            </a:pPr>
            <a:r>
              <a:rPr b="1">
                <a:solidFill>
                  <a:srgbClr val="2563EB"/>
                </a:solidFill>
              </a:rPr>
              <a:t>✓ </a:t>
            </a:r>
            <a:r>
              <a:rPr b="1">
                <a:solidFill>
                  <a:srgbClr val="0F172A"/>
                </a:solidFill>
              </a:rPr>
              <a:t>Registro Único RNF-07: </a:t>
            </a:r>
            <a:r>
              <a:rPr b="0">
                <a:solidFill>
                  <a:srgbClr val="475569"/>
                </a:solidFill>
              </a:rPr>
              <a:t>Demostramos que unificar el flujo de datos elimina errores humanos de transcripción y acelera el tiempo de reacción operativa.</a:t>
            </a:r>
          </a:p>
          <a:p>
            <a:pPr>
              <a:spcAft>
                <a:spcPts val="600"/>
              </a:spcAft>
              <a:defRPr sz="1000"/>
            </a:pPr>
            <a:r>
              <a:rPr b="1">
                <a:solidFill>
                  <a:srgbClr val="2563EB"/>
                </a:solidFill>
              </a:rPr>
              <a:t>✓ </a:t>
            </a:r>
            <a:r>
              <a:rPr b="1">
                <a:solidFill>
                  <a:srgbClr val="0F172A"/>
                </a:solidFill>
              </a:rPr>
              <a:t>Gobernanza Simplificada: </a:t>
            </a:r>
            <a:r>
              <a:rPr b="0">
                <a:solidFill>
                  <a:srgbClr val="475569"/>
                </a:solidFill>
              </a:rPr>
              <a:t>La consolidación en dos roles web (Admin y Operador Integral) maximizó la agilidad y simplificó los procedimientos sin sacrificar seguridad.</a:t>
            </a:r>
          </a:p>
          <a:p>
            <a:pPr>
              <a:spcAft>
                <a:spcPts val="600"/>
              </a:spcAft>
              <a:defRPr sz="1000"/>
            </a:pPr>
            <a:r>
              <a:rPr b="1">
                <a:solidFill>
                  <a:srgbClr val="2563EB"/>
                </a:solidFill>
              </a:rPr>
              <a:t>✓ </a:t>
            </a:r>
            <a:r>
              <a:rPr b="1">
                <a:solidFill>
                  <a:srgbClr val="0F172A"/>
                </a:solidFill>
              </a:rPr>
              <a:t>Solución Multiplataforma: </a:t>
            </a:r>
            <a:r>
              <a:rPr b="0">
                <a:solidFill>
                  <a:srgbClr val="475569"/>
                </a:solidFill>
              </a:rPr>
              <a:t>La integración entre Next.js, Express, PostgreSQL y Expo demuestra la potencia del ecosistema TypeScript para construir sistemas distribuidos modernos.</a:t>
            </a:r>
          </a:p>
        </p:txBody>
      </p:sp>
      <p:sp>
        <p:nvSpPr>
          <p:cNvPr id="10" name="Rounded Rectangle 9"/>
          <p:cNvSpPr/>
          <p:nvPr/>
        </p:nvSpPr>
        <p:spPr>
          <a:xfrm>
            <a:off x="6339535"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b="1" sz="1350">
                <a:solidFill>
                  <a:srgbClr val="2563EB"/>
                </a:solidFill>
              </a:defRPr>
            </a:pPr>
            <a:r>
              <a:t>🔮 Líneas de Trabajo Futuro (Roadmap)</a:t>
            </a:r>
          </a:p>
          <a:p>
            <a:pPr>
              <a:spcAft>
                <a:spcPts val="600"/>
              </a:spcAft>
              <a:defRPr sz="1000"/>
            </a:pPr>
            <a:r>
              <a:rPr b="1">
                <a:solidFill>
                  <a:srgbClr val="2563EB"/>
                </a:solidFill>
              </a:rPr>
              <a:t>✦ </a:t>
            </a:r>
            <a:r>
              <a:rPr b="1">
                <a:solidFill>
                  <a:srgbClr val="0F172A"/>
                </a:solidFill>
              </a:rPr>
              <a:t>IA en Triage y Clasificación: </a:t>
            </a:r>
            <a:r>
              <a:rPr b="0">
                <a:solidFill>
                  <a:srgbClr val="475569"/>
                </a:solidFill>
              </a:rPr>
              <a:t>Integración de modelos NLP para transcripción y análisis semántico de llamadas de voz ciudadanas clasificando la prioridad automáticamente.</a:t>
            </a:r>
          </a:p>
          <a:p>
            <a:pPr>
              <a:spcAft>
                <a:spcPts val="600"/>
              </a:spcAft>
              <a:defRPr sz="1000"/>
            </a:pPr>
            <a:r>
              <a:rPr b="1">
                <a:solidFill>
                  <a:srgbClr val="2563EB"/>
                </a:solidFill>
              </a:rPr>
              <a:t>✦ </a:t>
            </a:r>
            <a:r>
              <a:rPr b="1">
                <a:solidFill>
                  <a:srgbClr val="0F172A"/>
                </a:solidFill>
              </a:rPr>
              <a:t>Integración con CCTV Urbano: </a:t>
            </a:r>
            <a:r>
              <a:rPr b="0">
                <a:solidFill>
                  <a:srgbClr val="475569"/>
                </a:solidFill>
              </a:rPr>
              <a:t>Conexión a cámaras de vigilancia ciudadana para desplegar el streaming de video del lugar exacto en el mapa CAD.</a:t>
            </a:r>
          </a:p>
          <a:p>
            <a:pPr>
              <a:spcAft>
                <a:spcPts val="600"/>
              </a:spcAft>
              <a:defRPr sz="1000"/>
            </a:pPr>
            <a:r>
              <a:rPr b="1">
                <a:solidFill>
                  <a:srgbClr val="2563EB"/>
                </a:solidFill>
              </a:rPr>
              <a:t>✦ </a:t>
            </a:r>
            <a:r>
              <a:rPr b="1">
                <a:solidFill>
                  <a:srgbClr val="0F172A"/>
                </a:solidFill>
              </a:rPr>
              <a:t>Ruteo Dinámico con Tráfico: </a:t>
            </a:r>
            <a:r>
              <a:rPr b="0">
                <a:solidFill>
                  <a:srgbClr val="475569"/>
                </a:solidFill>
              </a:rPr>
              <a:t>Incorporación de capas de tráfico en tiempo real y algoritmo de ruta más rápida considerando congestiones viales.</a:t>
            </a:r>
          </a:p>
          <a:p>
            <a:pPr>
              <a:spcAft>
                <a:spcPts val="600"/>
              </a:spcAft>
              <a:defRPr sz="1000"/>
            </a:pPr>
            <a:r>
              <a:rPr b="1">
                <a:solidFill>
                  <a:srgbClr val="2563EB"/>
                </a:solidFill>
              </a:rPr>
              <a:t>✦ </a:t>
            </a:r>
            <a:r>
              <a:rPr b="1">
                <a:solidFill>
                  <a:srgbClr val="0F172A"/>
                </a:solidFill>
              </a:rPr>
              <a:t>Comunicaciones Offline Mesh: </a:t>
            </a:r>
            <a:r>
              <a:rPr b="0">
                <a:solidFill>
                  <a:srgbClr val="475569"/>
                </a:solidFill>
              </a:rPr>
              <a:t>Soporte de protocolos de radio o mallas LoRa para transmisión de reportes en caso de apagón o caída de redes 4G/5G.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43891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241280" cy="4389120"/>
          </a:xfrm>
          <a:prstGeom prst="rect">
            <a:avLst/>
          </a:prstGeom>
          <a:noFill/>
        </p:spPr>
        <p:txBody>
          <a:bodyPr wrap="square">
            <a:spAutoFit/>
          </a:bodyPr>
          <a:lstStyle/>
          <a:p>
            <a:pPr>
              <a:spcAft>
                <a:spcPts val="1400"/>
              </a:spcAft>
              <a:defRPr sz="1100" b="1">
                <a:solidFill>
                  <a:srgbClr val="38BDF8"/>
                </a:solidFill>
              </a:defRPr>
            </a:pPr>
            <a:r>
              <a:t>DEMOSTRACIÓN EN VIVO &amp; CIERRE FORMAL</a:t>
            </a:r>
          </a:p>
          <a:p>
            <a:pPr>
              <a:spcAft>
                <a:spcPts val="1400"/>
              </a:spcAft>
              <a:defRPr sz="3000" b="1">
                <a:solidFill>
                  <a:srgbClr val="F8FAFC"/>
                </a:solidFill>
              </a:defRPr>
            </a:pPr>
            <a:r>
              <a:t>Demostración Práctica &amp; Sesión de Preguntas</a:t>
            </a:r>
          </a:p>
          <a:p>
            <a:pPr>
              <a:spcAft>
                <a:spcPts val="2400"/>
              </a:spcAft>
              <a:defRPr sz="1300">
                <a:solidFill>
                  <a:srgbClr val="94A3B8"/>
                </a:solidFill>
              </a:defRPr>
            </a:pPr>
            <a:r>
              <a:t>Estamos listos para ejecutar la demostración en vivo del flujo completo:</a:t>
            </a:r>
            <a:br/>
            <a:r>
              <a:t>1. Envío de reporte SOS desde la App Móvil con captura GPS y foto de evidencia.</a:t>
            </a:r>
            <a:br/>
            <a:r>
              <a:t>2. Recepción, Triage y Despacho Táctico asistido por Haversine en la Consola Web CAD.</a:t>
            </a:r>
            <a:br/>
            <a:r>
              <a:t>3. Notificación háptica y recepción de misión en el terminal del oficial de campo (Unidad PL-01).</a:t>
            </a:r>
          </a:p>
          <a:p>
            <a:pPr>
              <a:defRPr sz="1150">
                <a:solidFill>
                  <a:srgbClr val="94A3B8"/>
                </a:solidFill>
              </a:defRPr>
            </a:pPr>
            <a:r>
              <a:t>Repositorio Oficial: github.com/dilson123S/P.I-de-Gestion-y-Cordinacion-de-Emergencia</a:t>
            </a:r>
            <a:br/>
            <a:r>
              <a:t>Documentación Técnica: MANUAL_TECNICO_Y_ARQUITECTURA_SIGEM.pdf</a:t>
            </a:r>
            <a:br/>
            <a:r>
              <a:t>¡Muchas gracias por su atención! Abrimos el espacio a preguntas del docente y los compañeros.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